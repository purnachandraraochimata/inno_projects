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366760" y="0"/>
            <a:ext cx="3794760" cy="6858000"/>
          </a:xfrm>
          <a:prstGeom prst="rect">
            <a:avLst/>
          </a:prstGeom>
          <a:solidFill>
            <a:srgbClr val="141A44"/>
          </a:solidFill>
          <a:ln/>
        </p:spPr>
      </p:sp>
      <p:sp>
        <p:nvSpPr>
          <p:cNvPr id="3" name="Shape 1"/>
          <p:cNvSpPr/>
          <p:nvPr/>
        </p:nvSpPr>
        <p:spPr>
          <a:xfrm>
            <a:off x="8915400" y="1234440"/>
            <a:ext cx="2743200" cy="3611880"/>
          </a:xfrm>
          <a:prstGeom prst="rect">
            <a:avLst/>
          </a:prstGeom>
          <a:solidFill>
            <a:srgbClr val="CADCFC"/>
          </a:solidFill>
          <a:ln w="19050">
            <a:solidFill>
              <a:srgbClr val="B08D57"/>
            </a:solidFill>
            <a:prstDash val="solid"/>
          </a:ln>
        </p:spPr>
      </p:sp>
      <p:pic>
        <p:nvPicPr>
          <p:cNvPr id="4" name="Image 0" descr="photo.jpg">    </p:cNvPr>
          <p:cNvPicPr>
            <a:picLocks noChangeAspect="1"/>
          </p:cNvPicPr>
          <p:nvPr/>
        </p:nvPicPr>
        <p:blipFill>
          <a:blip r:embed="rId1"/>
          <a:stretch>
            <a:fillRect/>
          </a:stretch>
        </p:blipFill>
        <p:spPr>
          <a:xfrm>
            <a:off x="9006840" y="1325880"/>
            <a:ext cx="2560320" cy="3429000"/>
          </a:xfrm>
          <a:prstGeom prst="rect">
            <a:avLst/>
          </a:prstGeom>
        </p:spPr>
      </p:pic>
      <p:sp>
        <p:nvSpPr>
          <p:cNvPr id="5" name="Text 2"/>
          <p:cNvSpPr/>
          <p:nvPr/>
        </p:nvSpPr>
        <p:spPr>
          <a:xfrm>
            <a:off x="640080" y="2331720"/>
            <a:ext cx="7406640" cy="91440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PURNA CHANDRA RAO CHIMATA</a:t>
            </a:r>
            <a:endParaRPr lang="en-US" sz="3400" dirty="0"/>
          </a:p>
        </p:txBody>
      </p:sp>
      <p:sp>
        <p:nvSpPr>
          <p:cNvPr id="6" name="Text 3"/>
          <p:cNvSpPr/>
          <p:nvPr/>
        </p:nvSpPr>
        <p:spPr>
          <a:xfrm>
            <a:off x="640080" y="3154680"/>
            <a:ext cx="7406640" cy="457200"/>
          </a:xfrm>
          <a:prstGeom prst="rect">
            <a:avLst/>
          </a:prstGeom>
          <a:noFill/>
          <a:ln/>
        </p:spPr>
        <p:txBody>
          <a:bodyPr wrap="square" lIns="0" tIns="0" rIns="0" bIns="0" rtlCol="0" anchor="ctr"/>
          <a:lstStyle/>
          <a:p>
            <a:pPr algn="l" indent="0" marL="0">
              <a:buNone/>
            </a:pPr>
            <a:r>
              <a:rPr lang="en-US" sz="1600" spc="200" kern="0" dirty="0">
                <a:solidFill>
                  <a:srgbClr val="CADCFC"/>
                </a:solidFill>
                <a:latin typeface="Calibri" pitchFamily="34" charset="0"/>
                <a:ea typeface="Calibri" pitchFamily="34" charset="-122"/>
                <a:cs typeface="Calibri" pitchFamily="34" charset="-120"/>
              </a:rPr>
              <a:t>PYTHON FULL STACK DEVELOPER</a:t>
            </a:r>
            <a:endParaRPr lang="en-US" sz="1600" dirty="0"/>
          </a:p>
        </p:txBody>
      </p:sp>
      <p:sp>
        <p:nvSpPr>
          <p:cNvPr id="7" name="Shape 4"/>
          <p:cNvSpPr/>
          <p:nvPr/>
        </p:nvSpPr>
        <p:spPr>
          <a:xfrm>
            <a:off x="640080" y="3794760"/>
            <a:ext cx="2194560" cy="0"/>
          </a:xfrm>
          <a:prstGeom prst="line">
            <a:avLst/>
          </a:prstGeom>
          <a:noFill/>
          <a:ln w="19050">
            <a:solidFill>
              <a:srgbClr val="B08D57"/>
            </a:solidFill>
            <a:prstDash val="solid"/>
          </a:ln>
        </p:spPr>
      </p:sp>
      <p:sp>
        <p:nvSpPr>
          <p:cNvPr id="8" name="Text 5"/>
          <p:cNvSpPr/>
          <p:nvPr/>
        </p:nvSpPr>
        <p:spPr>
          <a:xfrm>
            <a:off x="640080" y="4114800"/>
            <a:ext cx="7315200" cy="1371600"/>
          </a:xfrm>
          <a:prstGeom prst="rect">
            <a:avLst/>
          </a:prstGeom>
          <a:noFill/>
          <a:ln/>
        </p:spPr>
        <p:txBody>
          <a:bodyPr wrap="square" lIns="0" tIns="0" rIns="0" bIns="0" rtlCol="0" anchor="ctr"/>
          <a:lstStyle/>
          <a:p>
            <a:pPr indent="0" marL="0">
              <a:lnSpc>
                <a:spcPct val="135000"/>
              </a:lnSpc>
              <a:buNone/>
            </a:pPr>
            <a:r>
              <a:rPr lang="en-US" sz="1300" dirty="0">
                <a:solidFill>
                  <a:srgbClr val="CADCFC"/>
                </a:solidFill>
                <a:latin typeface="Calibri" pitchFamily="34" charset="0"/>
                <a:ea typeface="Calibri" pitchFamily="34" charset="-122"/>
                <a:cs typeface="Calibri" pitchFamily="34" charset="-120"/>
              </a:rPr>
              <a:t>Chennai, India</a:t>
            </a:r>
            <a:endParaRPr lang="en-US" sz="1300" dirty="0"/>
          </a:p>
          <a:p>
            <a:pPr indent="0" marL="0">
              <a:lnSpc>
                <a:spcPct val="135000"/>
              </a:lnSpc>
              <a:buNone/>
            </a:pPr>
            <a:r>
              <a:rPr lang="en-US" sz="1300" dirty="0">
                <a:solidFill>
                  <a:srgbClr val="CADCFC"/>
                </a:solidFill>
                <a:latin typeface="Calibri" pitchFamily="34" charset="0"/>
                <a:ea typeface="Calibri" pitchFamily="34" charset="-122"/>
                <a:cs typeface="Calibri" pitchFamily="34" charset="-120"/>
              </a:rPr>
              <a:t>purnachandraraochimata@gmail.com</a:t>
            </a:r>
            <a:endParaRPr lang="en-US" sz="1300" dirty="0"/>
          </a:p>
          <a:p>
            <a:pPr indent="0" marL="0">
              <a:lnSpc>
                <a:spcPct val="135000"/>
              </a:lnSpc>
              <a:buNone/>
            </a:pPr>
            <a:r>
              <a:rPr lang="en-US" sz="1300" dirty="0">
                <a:solidFill>
                  <a:srgbClr val="CADCFC"/>
                </a:solidFill>
                <a:latin typeface="Calibri" pitchFamily="34" charset="0"/>
                <a:ea typeface="Calibri" pitchFamily="34" charset="-122"/>
                <a:cs typeface="Calibri" pitchFamily="34" charset="-120"/>
              </a:rPr>
              <a:t>linkedin.com/in/purnachandraraochimata</a:t>
            </a:r>
            <a:endParaRPr lang="en-US" sz="1300" dirty="0"/>
          </a:p>
          <a:p>
            <a:pPr indent="0" marL="0">
              <a:lnSpc>
                <a:spcPct val="135000"/>
              </a:lnSpc>
              <a:buNone/>
            </a:pPr>
            <a:r>
              <a:rPr lang="en-US" sz="1300" dirty="0">
                <a:solidFill>
                  <a:srgbClr val="CADCFC"/>
                </a:solidFill>
                <a:latin typeface="Calibri" pitchFamily="34" charset="0"/>
                <a:ea typeface="Calibri" pitchFamily="34" charset="-122"/>
                <a:cs typeface="Calibri" pitchFamily="34" charset="-120"/>
              </a:rPr>
              <a:t>github.com/Purnachandraraochimata</a:t>
            </a:r>
            <a:endParaRPr lang="en-US" sz="1300" dirty="0"/>
          </a:p>
        </p:txBody>
      </p:sp>
      <p:sp>
        <p:nvSpPr>
          <p:cNvPr id="9" name="Text 6"/>
          <p:cNvSpPr/>
          <p:nvPr/>
        </p:nvSpPr>
        <p:spPr>
          <a:xfrm>
            <a:off x="640080" y="6126480"/>
            <a:ext cx="5486400" cy="365760"/>
          </a:xfrm>
          <a:prstGeom prst="rect">
            <a:avLst/>
          </a:prstGeom>
          <a:noFill/>
          <a:ln/>
        </p:spPr>
        <p:txBody>
          <a:bodyPr wrap="square" lIns="0" tIns="0" rIns="0" bIns="0" rtlCol="0" anchor="ctr"/>
          <a:lstStyle/>
          <a:p>
            <a:pPr indent="0" marL="0">
              <a:buNone/>
            </a:pPr>
            <a:r>
              <a:rPr lang="en-US" sz="1100" i="1" dirty="0">
                <a:solidFill>
                  <a:srgbClr val="8C9BC9"/>
                </a:solidFill>
                <a:latin typeface="Calibri" pitchFamily="34" charset="0"/>
                <a:ea typeface="Calibri" pitchFamily="34" charset="-122"/>
                <a:cs typeface="Calibri" pitchFamily="34" charset="-120"/>
              </a:rPr>
              <a:t>Portfolio &amp; Professional Overview  •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7315200" cy="54864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PROFESSIONAL SUMMARY</a:t>
            </a:r>
            <a:endParaRPr lang="en-US" sz="2800" dirty="0"/>
          </a:p>
        </p:txBody>
      </p:sp>
      <p:sp>
        <p:nvSpPr>
          <p:cNvPr id="3" name="Text 1"/>
          <p:cNvSpPr/>
          <p:nvPr/>
        </p:nvSpPr>
        <p:spPr>
          <a:xfrm>
            <a:off x="640080" y="1371600"/>
            <a:ext cx="6858000" cy="2103120"/>
          </a:xfrm>
          <a:prstGeom prst="rect">
            <a:avLst/>
          </a:prstGeom>
          <a:noFill/>
          <a:ln/>
        </p:spPr>
        <p:txBody>
          <a:bodyPr wrap="square" lIns="0" tIns="0" rIns="0" bIns="0" rtlCol="0" anchor="ctr"/>
          <a:lstStyle/>
          <a:p>
            <a:pPr algn="l" indent="0" marL="0">
              <a:lnSpc>
                <a:spcPct val="135000"/>
              </a:lnSpc>
              <a:buNone/>
            </a:pPr>
            <a:r>
              <a:rPr lang="en-US" sz="1450" dirty="0">
                <a:solidFill>
                  <a:srgbClr val="1F2430"/>
                </a:solidFill>
                <a:latin typeface="Calibri" pitchFamily="34" charset="0"/>
                <a:ea typeface="Calibri" pitchFamily="34" charset="-122"/>
                <a:cs typeface="Calibri" pitchFamily="34" charset="-120"/>
              </a:rPr>
              <a:t>A motivated and enthusiastic Computer Science and Engineering graduate with expertise in Python, SQL, HTML, CSS, and AI-assisted web development. Skilled in software development, problem-solving, and building efficient web applications, with strong analytical ability and a commitment to continuous learning and innovation. Eager to contribute to impactful technology-driven projects while growing professionally within a dynamic organization.</a:t>
            </a:r>
            <a:endParaRPr lang="en-US" sz="1450" dirty="0"/>
          </a:p>
        </p:txBody>
      </p:sp>
      <p:sp>
        <p:nvSpPr>
          <p:cNvPr id="4" name="Shape 2"/>
          <p:cNvSpPr/>
          <p:nvPr/>
        </p:nvSpPr>
        <p:spPr>
          <a:xfrm>
            <a:off x="640080" y="3703320"/>
            <a:ext cx="6858000" cy="2331720"/>
          </a:xfrm>
          <a:prstGeom prst="rect">
            <a:avLst/>
          </a:prstGeom>
          <a:solidFill>
            <a:srgbClr val="F4F6FB"/>
          </a:solidFill>
          <a:ln w="12700">
            <a:solidFill>
              <a:srgbClr val="CADCFC"/>
            </a:solidFill>
            <a:prstDash val="solid"/>
          </a:ln>
        </p:spPr>
      </p:sp>
      <p:sp>
        <p:nvSpPr>
          <p:cNvPr id="5" name="Text 3"/>
          <p:cNvSpPr/>
          <p:nvPr/>
        </p:nvSpPr>
        <p:spPr>
          <a:xfrm>
            <a:off x="914400" y="3886200"/>
            <a:ext cx="3657600" cy="36576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CORE STRENGTHS</a:t>
            </a:r>
            <a:endParaRPr lang="en-US" sz="1500" dirty="0"/>
          </a:p>
        </p:txBody>
      </p:sp>
      <p:sp>
        <p:nvSpPr>
          <p:cNvPr id="6" name="Text 4"/>
          <p:cNvSpPr/>
          <p:nvPr/>
        </p:nvSpPr>
        <p:spPr>
          <a:xfrm>
            <a:off x="914400" y="4343400"/>
            <a:ext cx="6309360" cy="1600200"/>
          </a:xfrm>
          <a:prstGeom prst="rect">
            <a:avLst/>
          </a:prstGeom>
          <a:noFill/>
          <a:ln/>
        </p:spPr>
        <p:txBody>
          <a:bodyPr wrap="square" lIns="0" tIns="0" rIns="0" bIns="0" rtlCol="0" anchor="ctr"/>
          <a:lstStyle/>
          <a:p>
            <a:pPr marL="342900" indent="-342900">
              <a:lnSpc>
                <a:spcPct val="130000"/>
              </a:lnSpc>
              <a:spcAft>
                <a:spcPts val="800"/>
              </a:spcAft>
              <a:buSzPct val="100000"/>
              <a:buChar char="▪"/>
            </a:pPr>
            <a:r>
              <a:rPr lang="en-US" sz="1300" dirty="0">
                <a:solidFill>
                  <a:srgbClr val="1F2430"/>
                </a:solidFill>
                <a:latin typeface="Calibri" pitchFamily="34" charset="0"/>
                <a:ea typeface="Calibri" pitchFamily="34" charset="-122"/>
                <a:cs typeface="Calibri" pitchFamily="34" charset="-120"/>
              </a:rPr>
              <a:t>Practical, working solutions in Python, SQL and HTML/CSS</a:t>
            </a:r>
            <a:endParaRPr lang="en-US" sz="1300" dirty="0"/>
          </a:p>
          <a:p>
            <a:pPr marL="342900" indent="-342900">
              <a:lnSpc>
                <a:spcPct val="130000"/>
              </a:lnSpc>
              <a:spcAft>
                <a:spcPts val="800"/>
              </a:spcAft>
              <a:buSzPct val="100000"/>
              <a:buChar char="▪"/>
            </a:pPr>
            <a:r>
              <a:rPr lang="en-US" sz="1300" dirty="0">
                <a:solidFill>
                  <a:srgbClr val="1F2430"/>
                </a:solidFill>
                <a:latin typeface="Calibri" pitchFamily="34" charset="0"/>
                <a:ea typeface="Calibri" pitchFamily="34" charset="-122"/>
                <a:cs typeface="Calibri" pitchFamily="34" charset="-120"/>
              </a:rPr>
              <a:t>Applied AI &amp; Machine Learning: image processing, secure data handling</a:t>
            </a:r>
            <a:endParaRPr lang="en-US" sz="1300" dirty="0"/>
          </a:p>
          <a:p>
            <a:pPr marL="342900" indent="-342900">
              <a:lnSpc>
                <a:spcPct val="130000"/>
              </a:lnSpc>
              <a:spcAft>
                <a:spcPts val="800"/>
              </a:spcAft>
              <a:buSzPct val="100000"/>
              <a:buChar char="▪"/>
            </a:pPr>
            <a:r>
              <a:rPr lang="en-US" sz="1300" dirty="0">
                <a:solidFill>
                  <a:srgbClr val="1F2430"/>
                </a:solidFill>
                <a:latin typeface="Calibri" pitchFamily="34" charset="0"/>
                <a:ea typeface="Calibri" pitchFamily="34" charset="-122"/>
                <a:cs typeface="Calibri" pitchFamily="34" charset="-120"/>
              </a:rPr>
              <a:t>Clean, documented, maintainable code and version control discipline</a:t>
            </a:r>
            <a:endParaRPr lang="en-US" sz="1300" dirty="0"/>
          </a:p>
          <a:p>
            <a:pPr marL="342900" indent="-342900">
              <a:lnSpc>
                <a:spcPct val="130000"/>
              </a:lnSpc>
              <a:spcAft>
                <a:spcPts val="800"/>
              </a:spcAft>
              <a:buSzPct val="100000"/>
              <a:buChar char="▪"/>
            </a:pPr>
            <a:r>
              <a:rPr lang="en-US" sz="1300" dirty="0">
                <a:solidFill>
                  <a:srgbClr val="1F2430"/>
                </a:solidFill>
                <a:latin typeface="Calibri" pitchFamily="34" charset="0"/>
                <a:ea typeface="Calibri" pitchFamily="34" charset="-122"/>
                <a:cs typeface="Calibri" pitchFamily="34" charset="-120"/>
              </a:rPr>
              <a:t>Cloud fundamentals (AWS) and core networking (CCNA)</a:t>
            </a:r>
            <a:endParaRPr lang="en-US" sz="1300" dirty="0"/>
          </a:p>
        </p:txBody>
      </p:sp>
      <p:sp>
        <p:nvSpPr>
          <p:cNvPr id="7" name="Shape 5"/>
          <p:cNvSpPr/>
          <p:nvPr/>
        </p:nvSpPr>
        <p:spPr>
          <a:xfrm>
            <a:off x="7818120" y="502920"/>
            <a:ext cx="3703320" cy="5852160"/>
          </a:xfrm>
          <a:prstGeom prst="rect">
            <a:avLst/>
          </a:prstGeom>
          <a:solidFill>
            <a:srgbClr val="1E2761"/>
          </a:solidFill>
          <a:ln/>
        </p:spPr>
      </p:sp>
      <p:pic>
        <p:nvPicPr>
          <p:cNvPr id="8" name="Image 0" descr="photo.jpg">    </p:cNvPr>
          <p:cNvPicPr>
            <a:picLocks noChangeAspect="1"/>
          </p:cNvPicPr>
          <p:nvPr/>
        </p:nvPicPr>
        <p:blipFill>
          <a:blip r:embed="rId1"/>
          <a:stretch>
            <a:fillRect/>
          </a:stretch>
        </p:blipFill>
        <p:spPr>
          <a:xfrm>
            <a:off x="8229600" y="914400"/>
            <a:ext cx="2880360" cy="3840480"/>
          </a:xfrm>
          <a:prstGeom prst="rect">
            <a:avLst/>
          </a:prstGeom>
        </p:spPr>
      </p:pic>
      <p:sp>
        <p:nvSpPr>
          <p:cNvPr id="9" name="Shape 6"/>
          <p:cNvSpPr/>
          <p:nvPr/>
        </p:nvSpPr>
        <p:spPr>
          <a:xfrm>
            <a:off x="8229600" y="4983480"/>
            <a:ext cx="2880360" cy="0"/>
          </a:xfrm>
          <a:prstGeom prst="line">
            <a:avLst/>
          </a:prstGeom>
          <a:noFill/>
          <a:ln w="12700">
            <a:solidFill>
              <a:srgbClr val="B08D57"/>
            </a:solidFill>
            <a:prstDash val="solid"/>
          </a:ln>
        </p:spPr>
      </p:sp>
      <p:sp>
        <p:nvSpPr>
          <p:cNvPr id="10" name="Text 7"/>
          <p:cNvSpPr/>
          <p:nvPr/>
        </p:nvSpPr>
        <p:spPr>
          <a:xfrm>
            <a:off x="8229600" y="5166360"/>
            <a:ext cx="2880360" cy="1005840"/>
          </a:xfrm>
          <a:prstGeom prst="rect">
            <a:avLst/>
          </a:prstGeom>
          <a:noFill/>
          <a:ln/>
        </p:spPr>
        <p:txBody>
          <a:bodyPr wrap="square" lIns="0" tIns="0" rIns="0" bIns="0" rtlCol="0" anchor="ctr"/>
          <a:lstStyle/>
          <a:p>
            <a:pPr indent="0" marL="0">
              <a:lnSpc>
                <a:spcPct val="130000"/>
              </a:lnSpc>
              <a:buNone/>
            </a:pPr>
            <a:r>
              <a:rPr lang="en-US" sz="1200" dirty="0">
                <a:solidFill>
                  <a:srgbClr val="CADCFC"/>
                </a:solidFill>
                <a:latin typeface="Calibri" pitchFamily="34" charset="0"/>
                <a:ea typeface="Calibri" pitchFamily="34" charset="-122"/>
                <a:cs typeface="Calibri" pitchFamily="34" charset="-120"/>
              </a:rPr>
              <a:t>B.Tech, Computer Science</a:t>
            </a:r>
            <a:endParaRPr lang="en-US" sz="1200" dirty="0"/>
          </a:p>
          <a:p>
            <a:pPr indent="0" marL="0">
              <a:lnSpc>
                <a:spcPct val="130000"/>
              </a:lnSpc>
              <a:buNone/>
            </a:pPr>
            <a:r>
              <a:rPr lang="en-US" sz="1200" dirty="0">
                <a:solidFill>
                  <a:srgbClr val="CADCFC"/>
                </a:solidFill>
                <a:latin typeface="Calibri" pitchFamily="34" charset="0"/>
                <a:ea typeface="Calibri" pitchFamily="34" charset="-122"/>
                <a:cs typeface="Calibri" pitchFamily="34" charset="-120"/>
              </a:rPr>
              <a:t>&amp; Engineering</a:t>
            </a:r>
            <a:endParaRPr lang="en-US" sz="1200" dirty="0"/>
          </a:p>
          <a:p>
            <a:pPr indent="0" marL="0">
              <a:lnSpc>
                <a:spcPct val="130000"/>
              </a:lnSpc>
              <a:buNone/>
            </a:pPr>
            <a:r>
              <a:rPr lang="en-US" sz="1200" dirty="0">
                <a:solidFill>
                  <a:srgbClr val="CADCFC"/>
                </a:solidFill>
                <a:latin typeface="Calibri" pitchFamily="34" charset="0"/>
                <a:ea typeface="Calibri" pitchFamily="34" charset="-122"/>
                <a:cs typeface="Calibri" pitchFamily="34" charset="-120"/>
              </a:rPr>
              <a:t>Vel Tech RS&amp;T, 2022–2026</a:t>
            </a:r>
            <a:endParaRPr lang="en-US" sz="1200" dirty="0"/>
          </a:p>
        </p:txBody>
      </p:sp>
      <p:sp>
        <p:nvSpPr>
          <p:cNvPr id="11" name="Text 8"/>
          <p:cNvSpPr/>
          <p:nvPr/>
        </p:nvSpPr>
        <p:spPr>
          <a:xfrm>
            <a:off x="11430000" y="6446520"/>
            <a:ext cx="548640" cy="32004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7315200" cy="54864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EDUCATION</a:t>
            </a:r>
            <a:endParaRPr lang="en-US" sz="2800" dirty="0"/>
          </a:p>
        </p:txBody>
      </p:sp>
      <p:sp>
        <p:nvSpPr>
          <p:cNvPr id="3" name="Text 1"/>
          <p:cNvSpPr/>
          <p:nvPr/>
        </p:nvSpPr>
        <p:spPr>
          <a:xfrm>
            <a:off x="640080" y="1051560"/>
            <a:ext cx="7315200" cy="365760"/>
          </a:xfrm>
          <a:prstGeom prst="rect">
            <a:avLst/>
          </a:prstGeom>
          <a:noFill/>
          <a:ln/>
        </p:spPr>
        <p:txBody>
          <a:bodyPr wrap="square" lIns="0" tIns="0" rIns="0" bIns="0" rtlCol="0" anchor="ctr"/>
          <a:lstStyle/>
          <a:p>
            <a:pPr indent="0" marL="0">
              <a:buNone/>
            </a:pPr>
            <a:r>
              <a:rPr lang="en-US" sz="1300" i="1" dirty="0">
                <a:solidFill>
                  <a:srgbClr val="5B6472"/>
                </a:solidFill>
                <a:latin typeface="Calibri" pitchFamily="34" charset="0"/>
                <a:ea typeface="Calibri" pitchFamily="34" charset="-122"/>
                <a:cs typeface="Calibri" pitchFamily="34" charset="-120"/>
              </a:rPr>
              <a:t>Academic background and achievements</a:t>
            </a:r>
            <a:endParaRPr lang="en-US" sz="1300" dirty="0"/>
          </a:p>
        </p:txBody>
      </p:sp>
      <p:sp>
        <p:nvSpPr>
          <p:cNvPr id="4" name="Shape 2"/>
          <p:cNvSpPr/>
          <p:nvPr/>
        </p:nvSpPr>
        <p:spPr>
          <a:xfrm>
            <a:off x="640080" y="1691640"/>
            <a:ext cx="1737360" cy="1188720"/>
          </a:xfrm>
          <a:prstGeom prst="rect">
            <a:avLst/>
          </a:prstGeom>
          <a:solidFill>
            <a:srgbClr val="1E2761"/>
          </a:solidFill>
          <a:ln/>
        </p:spPr>
      </p:sp>
      <p:sp>
        <p:nvSpPr>
          <p:cNvPr id="5" name="Text 3"/>
          <p:cNvSpPr/>
          <p:nvPr/>
        </p:nvSpPr>
        <p:spPr>
          <a:xfrm>
            <a:off x="640080" y="1691640"/>
            <a:ext cx="1737360" cy="11887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2022 – 2026</a:t>
            </a:r>
            <a:endParaRPr lang="en-US" sz="1300" dirty="0"/>
          </a:p>
        </p:txBody>
      </p:sp>
      <p:sp>
        <p:nvSpPr>
          <p:cNvPr id="6" name="Shape 4"/>
          <p:cNvSpPr/>
          <p:nvPr/>
        </p:nvSpPr>
        <p:spPr>
          <a:xfrm>
            <a:off x="2514600" y="2221992"/>
            <a:ext cx="128016" cy="128016"/>
          </a:xfrm>
          <a:prstGeom prst="ellipse">
            <a:avLst/>
          </a:prstGeom>
          <a:solidFill>
            <a:srgbClr val="B08D57"/>
          </a:solidFill>
          <a:ln/>
        </p:spPr>
      </p:sp>
      <p:sp>
        <p:nvSpPr>
          <p:cNvPr id="7" name="Text 5"/>
          <p:cNvSpPr/>
          <p:nvPr/>
        </p:nvSpPr>
        <p:spPr>
          <a:xfrm>
            <a:off x="2788920" y="1645920"/>
            <a:ext cx="8686800" cy="365760"/>
          </a:xfrm>
          <a:prstGeom prst="rect">
            <a:avLst/>
          </a:prstGeom>
          <a:noFill/>
          <a:ln/>
        </p:spPr>
        <p:txBody>
          <a:bodyPr wrap="square" lIns="0" tIns="0" rIns="0" bIns="0" rtlCol="0" anchor="ctr"/>
          <a:lstStyle/>
          <a:p>
            <a:pPr indent="0" marL="0">
              <a:buNone/>
            </a:pPr>
            <a:r>
              <a:rPr lang="en-US" sz="1500" b="1" dirty="0">
                <a:solidFill>
                  <a:srgbClr val="1F2430"/>
                </a:solidFill>
                <a:latin typeface="Cambria" pitchFamily="34" charset="0"/>
                <a:ea typeface="Cambria" pitchFamily="34" charset="-122"/>
                <a:cs typeface="Cambria" pitchFamily="34" charset="-120"/>
              </a:rPr>
              <a:t>Bachelor of Technology, Computer Science &amp; Engineering</a:t>
            </a:r>
            <a:endParaRPr lang="en-US" sz="1500" dirty="0"/>
          </a:p>
        </p:txBody>
      </p:sp>
      <p:sp>
        <p:nvSpPr>
          <p:cNvPr id="8" name="Text 6"/>
          <p:cNvSpPr/>
          <p:nvPr/>
        </p:nvSpPr>
        <p:spPr>
          <a:xfrm>
            <a:off x="2788920" y="2011680"/>
            <a:ext cx="8686800" cy="32004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Vel Tech Rangarajan Dr. Sagunthala R&amp;D Institute of Science and Technology</a:t>
            </a:r>
            <a:endParaRPr lang="en-US" sz="1250" dirty="0"/>
          </a:p>
        </p:txBody>
      </p:sp>
      <p:sp>
        <p:nvSpPr>
          <p:cNvPr id="9" name="Text 7"/>
          <p:cNvSpPr/>
          <p:nvPr/>
        </p:nvSpPr>
        <p:spPr>
          <a:xfrm>
            <a:off x="2788920" y="2313432"/>
            <a:ext cx="8686800" cy="320040"/>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CGPA: 8.04 / 10</a:t>
            </a:r>
            <a:endParaRPr lang="en-US" sz="1250" dirty="0"/>
          </a:p>
        </p:txBody>
      </p:sp>
      <p:sp>
        <p:nvSpPr>
          <p:cNvPr id="10" name="Shape 8"/>
          <p:cNvSpPr/>
          <p:nvPr/>
        </p:nvSpPr>
        <p:spPr>
          <a:xfrm>
            <a:off x="640080" y="3108960"/>
            <a:ext cx="1737360" cy="1188720"/>
          </a:xfrm>
          <a:prstGeom prst="rect">
            <a:avLst/>
          </a:prstGeom>
          <a:solidFill>
            <a:srgbClr val="1E2761"/>
          </a:solidFill>
          <a:ln/>
        </p:spPr>
      </p:sp>
      <p:sp>
        <p:nvSpPr>
          <p:cNvPr id="11" name="Text 9"/>
          <p:cNvSpPr/>
          <p:nvPr/>
        </p:nvSpPr>
        <p:spPr>
          <a:xfrm>
            <a:off x="640080" y="3108960"/>
            <a:ext cx="1737360" cy="11887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2020 – 2022</a:t>
            </a:r>
            <a:endParaRPr lang="en-US" sz="1300" dirty="0"/>
          </a:p>
        </p:txBody>
      </p:sp>
      <p:sp>
        <p:nvSpPr>
          <p:cNvPr id="12" name="Shape 10"/>
          <p:cNvSpPr/>
          <p:nvPr/>
        </p:nvSpPr>
        <p:spPr>
          <a:xfrm>
            <a:off x="2514600" y="3639312"/>
            <a:ext cx="128016" cy="128016"/>
          </a:xfrm>
          <a:prstGeom prst="ellipse">
            <a:avLst/>
          </a:prstGeom>
          <a:solidFill>
            <a:srgbClr val="B08D57"/>
          </a:solidFill>
          <a:ln/>
        </p:spPr>
      </p:sp>
      <p:sp>
        <p:nvSpPr>
          <p:cNvPr id="13" name="Text 11"/>
          <p:cNvSpPr/>
          <p:nvPr/>
        </p:nvSpPr>
        <p:spPr>
          <a:xfrm>
            <a:off x="2788920" y="3063240"/>
            <a:ext cx="8686800" cy="365760"/>
          </a:xfrm>
          <a:prstGeom prst="rect">
            <a:avLst/>
          </a:prstGeom>
          <a:noFill/>
          <a:ln/>
        </p:spPr>
        <p:txBody>
          <a:bodyPr wrap="square" lIns="0" tIns="0" rIns="0" bIns="0" rtlCol="0" anchor="ctr"/>
          <a:lstStyle/>
          <a:p>
            <a:pPr indent="0" marL="0">
              <a:buNone/>
            </a:pPr>
            <a:r>
              <a:rPr lang="en-US" sz="1500" b="1" dirty="0">
                <a:solidFill>
                  <a:srgbClr val="1F2430"/>
                </a:solidFill>
                <a:latin typeface="Cambria" pitchFamily="34" charset="0"/>
                <a:ea typeface="Cambria" pitchFamily="34" charset="-122"/>
                <a:cs typeface="Cambria" pitchFamily="34" charset="-120"/>
              </a:rPr>
              <a:t>Intermediate (MPC)</a:t>
            </a:r>
            <a:endParaRPr lang="en-US" sz="1500" dirty="0"/>
          </a:p>
        </p:txBody>
      </p:sp>
      <p:sp>
        <p:nvSpPr>
          <p:cNvPr id="14" name="Text 12"/>
          <p:cNvSpPr/>
          <p:nvPr/>
        </p:nvSpPr>
        <p:spPr>
          <a:xfrm>
            <a:off x="2788920" y="3429000"/>
            <a:ext cx="8686800" cy="32004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Narayana Junior College, Andhra Pradesh</a:t>
            </a:r>
            <a:endParaRPr lang="en-US" sz="1250" dirty="0"/>
          </a:p>
        </p:txBody>
      </p:sp>
      <p:sp>
        <p:nvSpPr>
          <p:cNvPr id="15" name="Text 13"/>
          <p:cNvSpPr/>
          <p:nvPr/>
        </p:nvSpPr>
        <p:spPr>
          <a:xfrm>
            <a:off x="2788920" y="3730752"/>
            <a:ext cx="8686800" cy="320040"/>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Score: 85.4%</a:t>
            </a:r>
            <a:endParaRPr lang="en-US" sz="1250" dirty="0"/>
          </a:p>
        </p:txBody>
      </p:sp>
      <p:sp>
        <p:nvSpPr>
          <p:cNvPr id="16" name="Shape 14"/>
          <p:cNvSpPr/>
          <p:nvPr/>
        </p:nvSpPr>
        <p:spPr>
          <a:xfrm>
            <a:off x="640080" y="4526280"/>
            <a:ext cx="1737360" cy="1188720"/>
          </a:xfrm>
          <a:prstGeom prst="rect">
            <a:avLst/>
          </a:prstGeom>
          <a:solidFill>
            <a:srgbClr val="1E2761"/>
          </a:solidFill>
          <a:ln/>
        </p:spPr>
      </p:sp>
      <p:sp>
        <p:nvSpPr>
          <p:cNvPr id="17" name="Text 15"/>
          <p:cNvSpPr/>
          <p:nvPr/>
        </p:nvSpPr>
        <p:spPr>
          <a:xfrm>
            <a:off x="640080" y="4526280"/>
            <a:ext cx="1737360" cy="11887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2019 – 2020</a:t>
            </a:r>
            <a:endParaRPr lang="en-US" sz="1300" dirty="0"/>
          </a:p>
        </p:txBody>
      </p:sp>
      <p:sp>
        <p:nvSpPr>
          <p:cNvPr id="18" name="Shape 16"/>
          <p:cNvSpPr/>
          <p:nvPr/>
        </p:nvSpPr>
        <p:spPr>
          <a:xfrm>
            <a:off x="2514600" y="5056632"/>
            <a:ext cx="128016" cy="128016"/>
          </a:xfrm>
          <a:prstGeom prst="ellipse">
            <a:avLst/>
          </a:prstGeom>
          <a:solidFill>
            <a:srgbClr val="B08D57"/>
          </a:solidFill>
          <a:ln/>
        </p:spPr>
      </p:sp>
      <p:sp>
        <p:nvSpPr>
          <p:cNvPr id="19" name="Text 17"/>
          <p:cNvSpPr/>
          <p:nvPr/>
        </p:nvSpPr>
        <p:spPr>
          <a:xfrm>
            <a:off x="2788920" y="4480560"/>
            <a:ext cx="8686800" cy="365760"/>
          </a:xfrm>
          <a:prstGeom prst="rect">
            <a:avLst/>
          </a:prstGeom>
          <a:noFill/>
          <a:ln/>
        </p:spPr>
        <p:txBody>
          <a:bodyPr wrap="square" lIns="0" tIns="0" rIns="0" bIns="0" rtlCol="0" anchor="ctr"/>
          <a:lstStyle/>
          <a:p>
            <a:pPr indent="0" marL="0">
              <a:buNone/>
            </a:pPr>
            <a:r>
              <a:rPr lang="en-US" sz="1500" b="1" dirty="0">
                <a:solidFill>
                  <a:srgbClr val="1F2430"/>
                </a:solidFill>
                <a:latin typeface="Cambria" pitchFamily="34" charset="0"/>
                <a:ea typeface="Cambria" pitchFamily="34" charset="-122"/>
                <a:cs typeface="Cambria" pitchFamily="34" charset="-120"/>
              </a:rPr>
              <a:t>SSC</a:t>
            </a:r>
            <a:endParaRPr lang="en-US" sz="1500" dirty="0"/>
          </a:p>
        </p:txBody>
      </p:sp>
      <p:sp>
        <p:nvSpPr>
          <p:cNvPr id="20" name="Text 18"/>
          <p:cNvSpPr/>
          <p:nvPr/>
        </p:nvSpPr>
        <p:spPr>
          <a:xfrm>
            <a:off x="2788920" y="4846320"/>
            <a:ext cx="8686800" cy="32004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Akshaya Vidyalayam, Andhra Pradesh</a:t>
            </a:r>
            <a:endParaRPr lang="en-US" sz="1250" dirty="0"/>
          </a:p>
        </p:txBody>
      </p:sp>
      <p:sp>
        <p:nvSpPr>
          <p:cNvPr id="21" name="Text 19"/>
          <p:cNvSpPr/>
          <p:nvPr/>
        </p:nvSpPr>
        <p:spPr>
          <a:xfrm>
            <a:off x="2788920" y="5148072"/>
            <a:ext cx="8686800" cy="320040"/>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Score: 95.83%</a:t>
            </a:r>
            <a:endParaRPr lang="en-US" sz="1250" dirty="0"/>
          </a:p>
        </p:txBody>
      </p:sp>
      <p:sp>
        <p:nvSpPr>
          <p:cNvPr id="22" name="Text 20"/>
          <p:cNvSpPr/>
          <p:nvPr/>
        </p:nvSpPr>
        <p:spPr>
          <a:xfrm>
            <a:off x="11430000" y="6446520"/>
            <a:ext cx="548640" cy="32004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7315200" cy="54864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TECHNICAL SKILLS</a:t>
            </a:r>
            <a:endParaRPr lang="en-US" sz="2800" dirty="0"/>
          </a:p>
        </p:txBody>
      </p:sp>
      <p:sp>
        <p:nvSpPr>
          <p:cNvPr id="3" name="Text 1"/>
          <p:cNvSpPr/>
          <p:nvPr/>
        </p:nvSpPr>
        <p:spPr>
          <a:xfrm>
            <a:off x="640080" y="1051560"/>
            <a:ext cx="7315200" cy="365760"/>
          </a:xfrm>
          <a:prstGeom prst="rect">
            <a:avLst/>
          </a:prstGeom>
          <a:noFill/>
          <a:ln/>
        </p:spPr>
        <p:txBody>
          <a:bodyPr wrap="square" lIns="0" tIns="0" rIns="0" bIns="0" rtlCol="0" anchor="ctr"/>
          <a:lstStyle/>
          <a:p>
            <a:pPr indent="0" marL="0">
              <a:buNone/>
            </a:pPr>
            <a:r>
              <a:rPr lang="en-US" sz="1300" i="1" dirty="0">
                <a:solidFill>
                  <a:srgbClr val="5B6472"/>
                </a:solidFill>
                <a:latin typeface="Calibri" pitchFamily="34" charset="0"/>
                <a:ea typeface="Calibri" pitchFamily="34" charset="-122"/>
                <a:cs typeface="Calibri" pitchFamily="34" charset="-120"/>
              </a:rPr>
              <a:t>Proficiency across core languages, tools and platforms</a:t>
            </a:r>
            <a:endParaRPr lang="en-US" sz="1300" dirty="0"/>
          </a:p>
        </p:txBody>
      </p:sp>
      <p:sp>
        <p:nvSpPr>
          <p:cNvPr id="4" name="Text 2"/>
          <p:cNvSpPr/>
          <p:nvPr/>
        </p:nvSpPr>
        <p:spPr>
          <a:xfrm>
            <a:off x="640080" y="1737360"/>
            <a:ext cx="3520440" cy="320040"/>
          </a:xfrm>
          <a:prstGeom prst="rect">
            <a:avLst/>
          </a:prstGeom>
          <a:noFill/>
          <a:ln/>
        </p:spPr>
        <p:txBody>
          <a:bodyPr wrap="square" lIns="0" tIns="0" rIns="0" bIns="0" rtlCol="0" anchor="ctr"/>
          <a:lstStyle/>
          <a:p>
            <a:pPr indent="0" marL="0">
              <a:buNone/>
            </a:pPr>
            <a:r>
              <a:rPr lang="en-US" sz="1350" b="1" dirty="0">
                <a:solidFill>
                  <a:srgbClr val="1F2430"/>
                </a:solidFill>
                <a:latin typeface="Calibri" pitchFamily="34" charset="0"/>
                <a:ea typeface="Calibri" pitchFamily="34" charset="-122"/>
                <a:cs typeface="Calibri" pitchFamily="34" charset="-120"/>
              </a:rPr>
              <a:t>HTML</a:t>
            </a:r>
            <a:endParaRPr lang="en-US" sz="1350" dirty="0"/>
          </a:p>
        </p:txBody>
      </p:sp>
      <p:sp>
        <p:nvSpPr>
          <p:cNvPr id="5" name="Text 3"/>
          <p:cNvSpPr/>
          <p:nvPr/>
        </p:nvSpPr>
        <p:spPr>
          <a:xfrm>
            <a:off x="640080" y="1737360"/>
            <a:ext cx="3520440" cy="320040"/>
          </a:xfrm>
          <a:prstGeom prst="rect">
            <a:avLst/>
          </a:prstGeom>
          <a:noFill/>
          <a:ln/>
        </p:spPr>
        <p:txBody>
          <a:bodyPr wrap="square" lIns="0" tIns="0" rIns="0" bIns="0" rtlCol="0" anchor="ctr"/>
          <a:lstStyle/>
          <a:p>
            <a:pPr algn="r" indent="0" marL="0">
              <a:buNone/>
            </a:pPr>
            <a:r>
              <a:rPr lang="en-US" sz="1200" dirty="0">
                <a:solidFill>
                  <a:srgbClr val="1E2761"/>
                </a:solidFill>
                <a:latin typeface="Calibri" pitchFamily="34" charset="0"/>
                <a:ea typeface="Calibri" pitchFamily="34" charset="-122"/>
                <a:cs typeface="Calibri" pitchFamily="34" charset="-120"/>
              </a:rPr>
              <a:t>90%</a:t>
            </a:r>
            <a:endParaRPr lang="en-US" sz="1200" dirty="0"/>
          </a:p>
        </p:txBody>
      </p:sp>
      <p:sp>
        <p:nvSpPr>
          <p:cNvPr id="6" name="Shape 4"/>
          <p:cNvSpPr/>
          <p:nvPr/>
        </p:nvSpPr>
        <p:spPr>
          <a:xfrm>
            <a:off x="640080" y="2121408"/>
            <a:ext cx="3520440" cy="146304"/>
          </a:xfrm>
          <a:prstGeom prst="roundRect">
            <a:avLst>
              <a:gd name="adj" fmla="val 18750"/>
            </a:avLst>
          </a:prstGeom>
          <a:solidFill>
            <a:srgbClr val="E7ECF6"/>
          </a:solidFill>
          <a:ln/>
        </p:spPr>
      </p:sp>
      <p:sp>
        <p:nvSpPr>
          <p:cNvPr id="7" name="Shape 5"/>
          <p:cNvSpPr/>
          <p:nvPr/>
        </p:nvSpPr>
        <p:spPr>
          <a:xfrm>
            <a:off x="640080" y="2121408"/>
            <a:ext cx="3168396" cy="146304"/>
          </a:xfrm>
          <a:prstGeom prst="roundRect">
            <a:avLst>
              <a:gd name="adj" fmla="val 18750"/>
            </a:avLst>
          </a:prstGeom>
          <a:solidFill>
            <a:srgbClr val="1E2761"/>
          </a:solidFill>
          <a:ln/>
        </p:spPr>
      </p:sp>
      <p:sp>
        <p:nvSpPr>
          <p:cNvPr id="8" name="Text 6"/>
          <p:cNvSpPr/>
          <p:nvPr/>
        </p:nvSpPr>
        <p:spPr>
          <a:xfrm>
            <a:off x="4480560" y="1737360"/>
            <a:ext cx="3520440" cy="320040"/>
          </a:xfrm>
          <a:prstGeom prst="rect">
            <a:avLst/>
          </a:prstGeom>
          <a:noFill/>
          <a:ln/>
        </p:spPr>
        <p:txBody>
          <a:bodyPr wrap="square" lIns="0" tIns="0" rIns="0" bIns="0" rtlCol="0" anchor="ctr"/>
          <a:lstStyle/>
          <a:p>
            <a:pPr indent="0" marL="0">
              <a:buNone/>
            </a:pPr>
            <a:r>
              <a:rPr lang="en-US" sz="1350" b="1" dirty="0">
                <a:solidFill>
                  <a:srgbClr val="1F2430"/>
                </a:solidFill>
                <a:latin typeface="Calibri" pitchFamily="34" charset="0"/>
                <a:ea typeface="Calibri" pitchFamily="34" charset="-122"/>
                <a:cs typeface="Calibri" pitchFamily="34" charset="-120"/>
              </a:rPr>
              <a:t>CSS</a:t>
            </a:r>
            <a:endParaRPr lang="en-US" sz="1350" dirty="0"/>
          </a:p>
        </p:txBody>
      </p:sp>
      <p:sp>
        <p:nvSpPr>
          <p:cNvPr id="9" name="Text 7"/>
          <p:cNvSpPr/>
          <p:nvPr/>
        </p:nvSpPr>
        <p:spPr>
          <a:xfrm>
            <a:off x="4480560" y="1737360"/>
            <a:ext cx="3520440" cy="320040"/>
          </a:xfrm>
          <a:prstGeom prst="rect">
            <a:avLst/>
          </a:prstGeom>
          <a:noFill/>
          <a:ln/>
        </p:spPr>
        <p:txBody>
          <a:bodyPr wrap="square" lIns="0" tIns="0" rIns="0" bIns="0" rtlCol="0" anchor="ctr"/>
          <a:lstStyle/>
          <a:p>
            <a:pPr algn="r" indent="0" marL="0">
              <a:buNone/>
            </a:pPr>
            <a:r>
              <a:rPr lang="en-US" sz="1200" dirty="0">
                <a:solidFill>
                  <a:srgbClr val="1E2761"/>
                </a:solidFill>
                <a:latin typeface="Calibri" pitchFamily="34" charset="0"/>
                <a:ea typeface="Calibri" pitchFamily="34" charset="-122"/>
                <a:cs typeface="Calibri" pitchFamily="34" charset="-120"/>
              </a:rPr>
              <a:t>95%</a:t>
            </a:r>
            <a:endParaRPr lang="en-US" sz="1200" dirty="0"/>
          </a:p>
        </p:txBody>
      </p:sp>
      <p:sp>
        <p:nvSpPr>
          <p:cNvPr id="10" name="Shape 8"/>
          <p:cNvSpPr/>
          <p:nvPr/>
        </p:nvSpPr>
        <p:spPr>
          <a:xfrm>
            <a:off x="4480560" y="2121408"/>
            <a:ext cx="3520440" cy="146304"/>
          </a:xfrm>
          <a:prstGeom prst="roundRect">
            <a:avLst>
              <a:gd name="adj" fmla="val 18750"/>
            </a:avLst>
          </a:prstGeom>
          <a:solidFill>
            <a:srgbClr val="E7ECF6"/>
          </a:solidFill>
          <a:ln/>
        </p:spPr>
      </p:sp>
      <p:sp>
        <p:nvSpPr>
          <p:cNvPr id="11" name="Shape 9"/>
          <p:cNvSpPr/>
          <p:nvPr/>
        </p:nvSpPr>
        <p:spPr>
          <a:xfrm>
            <a:off x="4480560" y="2121408"/>
            <a:ext cx="3344418" cy="146304"/>
          </a:xfrm>
          <a:prstGeom prst="roundRect">
            <a:avLst>
              <a:gd name="adj" fmla="val 18750"/>
            </a:avLst>
          </a:prstGeom>
          <a:solidFill>
            <a:srgbClr val="1E2761"/>
          </a:solidFill>
          <a:ln/>
        </p:spPr>
      </p:sp>
      <p:sp>
        <p:nvSpPr>
          <p:cNvPr id="12" name="Text 10"/>
          <p:cNvSpPr/>
          <p:nvPr/>
        </p:nvSpPr>
        <p:spPr>
          <a:xfrm>
            <a:off x="8321040" y="1737360"/>
            <a:ext cx="3520440" cy="320040"/>
          </a:xfrm>
          <a:prstGeom prst="rect">
            <a:avLst/>
          </a:prstGeom>
          <a:noFill/>
          <a:ln/>
        </p:spPr>
        <p:txBody>
          <a:bodyPr wrap="square" lIns="0" tIns="0" rIns="0" bIns="0" rtlCol="0" anchor="ctr"/>
          <a:lstStyle/>
          <a:p>
            <a:pPr indent="0" marL="0">
              <a:buNone/>
            </a:pPr>
            <a:r>
              <a:rPr lang="en-US" sz="1350" b="1" dirty="0">
                <a:solidFill>
                  <a:srgbClr val="1F2430"/>
                </a:solidFill>
                <a:latin typeface="Calibri" pitchFamily="34" charset="0"/>
                <a:ea typeface="Calibri" pitchFamily="34" charset="-122"/>
                <a:cs typeface="Calibri" pitchFamily="34" charset="-120"/>
              </a:rPr>
              <a:t>Python</a:t>
            </a:r>
            <a:endParaRPr lang="en-US" sz="1350" dirty="0"/>
          </a:p>
        </p:txBody>
      </p:sp>
      <p:sp>
        <p:nvSpPr>
          <p:cNvPr id="13" name="Text 11"/>
          <p:cNvSpPr/>
          <p:nvPr/>
        </p:nvSpPr>
        <p:spPr>
          <a:xfrm>
            <a:off x="8321040" y="1737360"/>
            <a:ext cx="3520440" cy="320040"/>
          </a:xfrm>
          <a:prstGeom prst="rect">
            <a:avLst/>
          </a:prstGeom>
          <a:noFill/>
          <a:ln/>
        </p:spPr>
        <p:txBody>
          <a:bodyPr wrap="square" lIns="0" tIns="0" rIns="0" bIns="0" rtlCol="0" anchor="ctr"/>
          <a:lstStyle/>
          <a:p>
            <a:pPr algn="r" indent="0" marL="0">
              <a:buNone/>
            </a:pPr>
            <a:r>
              <a:rPr lang="en-US" sz="1200" dirty="0">
                <a:solidFill>
                  <a:srgbClr val="1E2761"/>
                </a:solidFill>
                <a:latin typeface="Calibri" pitchFamily="34" charset="0"/>
                <a:ea typeface="Calibri" pitchFamily="34" charset="-122"/>
                <a:cs typeface="Calibri" pitchFamily="34" charset="-120"/>
              </a:rPr>
              <a:t>85%</a:t>
            </a:r>
            <a:endParaRPr lang="en-US" sz="1200" dirty="0"/>
          </a:p>
        </p:txBody>
      </p:sp>
      <p:sp>
        <p:nvSpPr>
          <p:cNvPr id="14" name="Shape 12"/>
          <p:cNvSpPr/>
          <p:nvPr/>
        </p:nvSpPr>
        <p:spPr>
          <a:xfrm>
            <a:off x="8321040" y="2121408"/>
            <a:ext cx="3520440" cy="146304"/>
          </a:xfrm>
          <a:prstGeom prst="roundRect">
            <a:avLst>
              <a:gd name="adj" fmla="val 18750"/>
            </a:avLst>
          </a:prstGeom>
          <a:solidFill>
            <a:srgbClr val="E7ECF6"/>
          </a:solidFill>
          <a:ln/>
        </p:spPr>
      </p:sp>
      <p:sp>
        <p:nvSpPr>
          <p:cNvPr id="15" name="Shape 13"/>
          <p:cNvSpPr/>
          <p:nvPr/>
        </p:nvSpPr>
        <p:spPr>
          <a:xfrm>
            <a:off x="8321040" y="2121408"/>
            <a:ext cx="2992374" cy="146304"/>
          </a:xfrm>
          <a:prstGeom prst="roundRect">
            <a:avLst>
              <a:gd name="adj" fmla="val 18750"/>
            </a:avLst>
          </a:prstGeom>
          <a:solidFill>
            <a:srgbClr val="1E2761"/>
          </a:solidFill>
          <a:ln/>
        </p:spPr>
      </p:sp>
      <p:sp>
        <p:nvSpPr>
          <p:cNvPr id="16" name="Text 14"/>
          <p:cNvSpPr/>
          <p:nvPr/>
        </p:nvSpPr>
        <p:spPr>
          <a:xfrm>
            <a:off x="640080" y="3154680"/>
            <a:ext cx="3520440" cy="320040"/>
          </a:xfrm>
          <a:prstGeom prst="rect">
            <a:avLst/>
          </a:prstGeom>
          <a:noFill/>
          <a:ln/>
        </p:spPr>
        <p:txBody>
          <a:bodyPr wrap="square" lIns="0" tIns="0" rIns="0" bIns="0" rtlCol="0" anchor="ctr"/>
          <a:lstStyle/>
          <a:p>
            <a:pPr indent="0" marL="0">
              <a:buNone/>
            </a:pPr>
            <a:r>
              <a:rPr lang="en-US" sz="1350" b="1" dirty="0">
                <a:solidFill>
                  <a:srgbClr val="1F2430"/>
                </a:solidFill>
                <a:latin typeface="Calibri" pitchFamily="34" charset="0"/>
                <a:ea typeface="Calibri" pitchFamily="34" charset="-122"/>
                <a:cs typeface="Calibri" pitchFamily="34" charset="-120"/>
              </a:rPr>
              <a:t>SQL</a:t>
            </a:r>
            <a:endParaRPr lang="en-US" sz="1350" dirty="0"/>
          </a:p>
        </p:txBody>
      </p:sp>
      <p:sp>
        <p:nvSpPr>
          <p:cNvPr id="17" name="Text 15"/>
          <p:cNvSpPr/>
          <p:nvPr/>
        </p:nvSpPr>
        <p:spPr>
          <a:xfrm>
            <a:off x="640080" y="3154680"/>
            <a:ext cx="3520440" cy="320040"/>
          </a:xfrm>
          <a:prstGeom prst="rect">
            <a:avLst/>
          </a:prstGeom>
          <a:noFill/>
          <a:ln/>
        </p:spPr>
        <p:txBody>
          <a:bodyPr wrap="square" lIns="0" tIns="0" rIns="0" bIns="0" rtlCol="0" anchor="ctr"/>
          <a:lstStyle/>
          <a:p>
            <a:pPr algn="r" indent="0" marL="0">
              <a:buNone/>
            </a:pPr>
            <a:r>
              <a:rPr lang="en-US" sz="1200" dirty="0">
                <a:solidFill>
                  <a:srgbClr val="1E2761"/>
                </a:solidFill>
                <a:latin typeface="Calibri" pitchFamily="34" charset="0"/>
                <a:ea typeface="Calibri" pitchFamily="34" charset="-122"/>
                <a:cs typeface="Calibri" pitchFamily="34" charset="-120"/>
              </a:rPr>
              <a:t>80%</a:t>
            </a:r>
            <a:endParaRPr lang="en-US" sz="1200" dirty="0"/>
          </a:p>
        </p:txBody>
      </p:sp>
      <p:sp>
        <p:nvSpPr>
          <p:cNvPr id="18" name="Shape 16"/>
          <p:cNvSpPr/>
          <p:nvPr/>
        </p:nvSpPr>
        <p:spPr>
          <a:xfrm>
            <a:off x="640080" y="3538728"/>
            <a:ext cx="3520440" cy="146304"/>
          </a:xfrm>
          <a:prstGeom prst="roundRect">
            <a:avLst>
              <a:gd name="adj" fmla="val 18750"/>
            </a:avLst>
          </a:prstGeom>
          <a:solidFill>
            <a:srgbClr val="E7ECF6"/>
          </a:solidFill>
          <a:ln/>
        </p:spPr>
      </p:sp>
      <p:sp>
        <p:nvSpPr>
          <p:cNvPr id="19" name="Shape 17"/>
          <p:cNvSpPr/>
          <p:nvPr/>
        </p:nvSpPr>
        <p:spPr>
          <a:xfrm>
            <a:off x="640080" y="3538728"/>
            <a:ext cx="2816352" cy="146304"/>
          </a:xfrm>
          <a:prstGeom prst="roundRect">
            <a:avLst>
              <a:gd name="adj" fmla="val 18750"/>
            </a:avLst>
          </a:prstGeom>
          <a:solidFill>
            <a:srgbClr val="1E2761"/>
          </a:solidFill>
          <a:ln/>
        </p:spPr>
      </p:sp>
      <p:sp>
        <p:nvSpPr>
          <p:cNvPr id="20" name="Text 18"/>
          <p:cNvSpPr/>
          <p:nvPr/>
        </p:nvSpPr>
        <p:spPr>
          <a:xfrm>
            <a:off x="4480560" y="3154680"/>
            <a:ext cx="3520440" cy="320040"/>
          </a:xfrm>
          <a:prstGeom prst="rect">
            <a:avLst/>
          </a:prstGeom>
          <a:noFill/>
          <a:ln/>
        </p:spPr>
        <p:txBody>
          <a:bodyPr wrap="square" lIns="0" tIns="0" rIns="0" bIns="0" rtlCol="0" anchor="ctr"/>
          <a:lstStyle/>
          <a:p>
            <a:pPr indent="0" marL="0">
              <a:buNone/>
            </a:pPr>
            <a:r>
              <a:rPr lang="en-US" sz="1350" b="1" dirty="0">
                <a:solidFill>
                  <a:srgbClr val="1F2430"/>
                </a:solidFill>
                <a:latin typeface="Calibri" pitchFamily="34" charset="0"/>
                <a:ea typeface="Calibri" pitchFamily="34" charset="-122"/>
                <a:cs typeface="Calibri" pitchFamily="34" charset="-120"/>
              </a:rPr>
              <a:t>Git &amp; GitHub</a:t>
            </a:r>
            <a:endParaRPr lang="en-US" sz="1350" dirty="0"/>
          </a:p>
        </p:txBody>
      </p:sp>
      <p:sp>
        <p:nvSpPr>
          <p:cNvPr id="21" name="Text 19"/>
          <p:cNvSpPr/>
          <p:nvPr/>
        </p:nvSpPr>
        <p:spPr>
          <a:xfrm>
            <a:off x="4480560" y="3154680"/>
            <a:ext cx="3520440" cy="320040"/>
          </a:xfrm>
          <a:prstGeom prst="rect">
            <a:avLst/>
          </a:prstGeom>
          <a:noFill/>
          <a:ln/>
        </p:spPr>
        <p:txBody>
          <a:bodyPr wrap="square" lIns="0" tIns="0" rIns="0" bIns="0" rtlCol="0" anchor="ctr"/>
          <a:lstStyle/>
          <a:p>
            <a:pPr algn="r" indent="0" marL="0">
              <a:buNone/>
            </a:pPr>
            <a:r>
              <a:rPr lang="en-US" sz="1200" dirty="0">
                <a:solidFill>
                  <a:srgbClr val="1E2761"/>
                </a:solidFill>
                <a:latin typeface="Calibri" pitchFamily="34" charset="0"/>
                <a:ea typeface="Calibri" pitchFamily="34" charset="-122"/>
                <a:cs typeface="Calibri" pitchFamily="34" charset="-120"/>
              </a:rPr>
              <a:t>80%</a:t>
            </a:r>
            <a:endParaRPr lang="en-US" sz="1200" dirty="0"/>
          </a:p>
        </p:txBody>
      </p:sp>
      <p:sp>
        <p:nvSpPr>
          <p:cNvPr id="22" name="Shape 20"/>
          <p:cNvSpPr/>
          <p:nvPr/>
        </p:nvSpPr>
        <p:spPr>
          <a:xfrm>
            <a:off x="4480560" y="3538728"/>
            <a:ext cx="3520440" cy="146304"/>
          </a:xfrm>
          <a:prstGeom prst="roundRect">
            <a:avLst>
              <a:gd name="adj" fmla="val 18750"/>
            </a:avLst>
          </a:prstGeom>
          <a:solidFill>
            <a:srgbClr val="E7ECF6"/>
          </a:solidFill>
          <a:ln/>
        </p:spPr>
      </p:sp>
      <p:sp>
        <p:nvSpPr>
          <p:cNvPr id="23" name="Shape 21"/>
          <p:cNvSpPr/>
          <p:nvPr/>
        </p:nvSpPr>
        <p:spPr>
          <a:xfrm>
            <a:off x="4480560" y="3538728"/>
            <a:ext cx="2816352" cy="146304"/>
          </a:xfrm>
          <a:prstGeom prst="roundRect">
            <a:avLst>
              <a:gd name="adj" fmla="val 18750"/>
            </a:avLst>
          </a:prstGeom>
          <a:solidFill>
            <a:srgbClr val="1E2761"/>
          </a:solidFill>
          <a:ln/>
        </p:spPr>
      </p:sp>
      <p:sp>
        <p:nvSpPr>
          <p:cNvPr id="24" name="Text 22"/>
          <p:cNvSpPr/>
          <p:nvPr/>
        </p:nvSpPr>
        <p:spPr>
          <a:xfrm>
            <a:off x="8321040" y="3154680"/>
            <a:ext cx="3520440" cy="320040"/>
          </a:xfrm>
          <a:prstGeom prst="rect">
            <a:avLst/>
          </a:prstGeom>
          <a:noFill/>
          <a:ln/>
        </p:spPr>
        <p:txBody>
          <a:bodyPr wrap="square" lIns="0" tIns="0" rIns="0" bIns="0" rtlCol="0" anchor="ctr"/>
          <a:lstStyle/>
          <a:p>
            <a:pPr indent="0" marL="0">
              <a:buNone/>
            </a:pPr>
            <a:r>
              <a:rPr lang="en-US" sz="1350" b="1" dirty="0">
                <a:solidFill>
                  <a:srgbClr val="1F2430"/>
                </a:solidFill>
                <a:latin typeface="Calibri" pitchFamily="34" charset="0"/>
                <a:ea typeface="Calibri" pitchFamily="34" charset="-122"/>
                <a:cs typeface="Calibri" pitchFamily="34" charset="-120"/>
              </a:rPr>
              <a:t>OOP</a:t>
            </a:r>
            <a:endParaRPr lang="en-US" sz="1350" dirty="0"/>
          </a:p>
        </p:txBody>
      </p:sp>
      <p:sp>
        <p:nvSpPr>
          <p:cNvPr id="25" name="Text 23"/>
          <p:cNvSpPr/>
          <p:nvPr/>
        </p:nvSpPr>
        <p:spPr>
          <a:xfrm>
            <a:off x="8321040" y="3154680"/>
            <a:ext cx="3520440" cy="320040"/>
          </a:xfrm>
          <a:prstGeom prst="rect">
            <a:avLst/>
          </a:prstGeom>
          <a:noFill/>
          <a:ln/>
        </p:spPr>
        <p:txBody>
          <a:bodyPr wrap="square" lIns="0" tIns="0" rIns="0" bIns="0" rtlCol="0" anchor="ctr"/>
          <a:lstStyle/>
          <a:p>
            <a:pPr algn="r" indent="0" marL="0">
              <a:buNone/>
            </a:pPr>
            <a:r>
              <a:rPr lang="en-US" sz="1200" dirty="0">
                <a:solidFill>
                  <a:srgbClr val="1E2761"/>
                </a:solidFill>
                <a:latin typeface="Calibri" pitchFamily="34" charset="0"/>
                <a:ea typeface="Calibri" pitchFamily="34" charset="-122"/>
                <a:cs typeface="Calibri" pitchFamily="34" charset="-120"/>
              </a:rPr>
              <a:t>75%</a:t>
            </a:r>
            <a:endParaRPr lang="en-US" sz="1200" dirty="0"/>
          </a:p>
        </p:txBody>
      </p:sp>
      <p:sp>
        <p:nvSpPr>
          <p:cNvPr id="26" name="Shape 24"/>
          <p:cNvSpPr/>
          <p:nvPr/>
        </p:nvSpPr>
        <p:spPr>
          <a:xfrm>
            <a:off x="8321040" y="3538728"/>
            <a:ext cx="3520440" cy="146304"/>
          </a:xfrm>
          <a:prstGeom prst="roundRect">
            <a:avLst>
              <a:gd name="adj" fmla="val 18750"/>
            </a:avLst>
          </a:prstGeom>
          <a:solidFill>
            <a:srgbClr val="E7ECF6"/>
          </a:solidFill>
          <a:ln/>
        </p:spPr>
      </p:sp>
      <p:sp>
        <p:nvSpPr>
          <p:cNvPr id="27" name="Shape 25"/>
          <p:cNvSpPr/>
          <p:nvPr/>
        </p:nvSpPr>
        <p:spPr>
          <a:xfrm>
            <a:off x="8321040" y="3538728"/>
            <a:ext cx="2640330" cy="146304"/>
          </a:xfrm>
          <a:prstGeom prst="roundRect">
            <a:avLst>
              <a:gd name="adj" fmla="val 18750"/>
            </a:avLst>
          </a:prstGeom>
          <a:solidFill>
            <a:srgbClr val="1E2761"/>
          </a:solidFill>
          <a:ln/>
        </p:spPr>
      </p:sp>
      <p:sp>
        <p:nvSpPr>
          <p:cNvPr id="28" name="Text 26"/>
          <p:cNvSpPr/>
          <p:nvPr/>
        </p:nvSpPr>
        <p:spPr>
          <a:xfrm>
            <a:off x="640080" y="4572000"/>
            <a:ext cx="3520440" cy="320040"/>
          </a:xfrm>
          <a:prstGeom prst="rect">
            <a:avLst/>
          </a:prstGeom>
          <a:noFill/>
          <a:ln/>
        </p:spPr>
        <p:txBody>
          <a:bodyPr wrap="square" lIns="0" tIns="0" rIns="0" bIns="0" rtlCol="0" anchor="ctr"/>
          <a:lstStyle/>
          <a:p>
            <a:pPr indent="0" marL="0">
              <a:buNone/>
            </a:pPr>
            <a:r>
              <a:rPr lang="en-US" sz="1350" b="1" dirty="0">
                <a:solidFill>
                  <a:srgbClr val="1F2430"/>
                </a:solidFill>
                <a:latin typeface="Calibri" pitchFamily="34" charset="0"/>
                <a:ea typeface="Calibri" pitchFamily="34" charset="-122"/>
                <a:cs typeface="Calibri" pitchFamily="34" charset="-120"/>
              </a:rPr>
              <a:t>AI &amp; Machine Learning</a:t>
            </a:r>
            <a:endParaRPr lang="en-US" sz="1350" dirty="0"/>
          </a:p>
        </p:txBody>
      </p:sp>
      <p:sp>
        <p:nvSpPr>
          <p:cNvPr id="29" name="Text 27"/>
          <p:cNvSpPr/>
          <p:nvPr/>
        </p:nvSpPr>
        <p:spPr>
          <a:xfrm>
            <a:off x="640080" y="4572000"/>
            <a:ext cx="3520440" cy="320040"/>
          </a:xfrm>
          <a:prstGeom prst="rect">
            <a:avLst/>
          </a:prstGeom>
          <a:noFill/>
          <a:ln/>
        </p:spPr>
        <p:txBody>
          <a:bodyPr wrap="square" lIns="0" tIns="0" rIns="0" bIns="0" rtlCol="0" anchor="ctr"/>
          <a:lstStyle/>
          <a:p>
            <a:pPr algn="r" indent="0" marL="0">
              <a:buNone/>
            </a:pPr>
            <a:r>
              <a:rPr lang="en-US" sz="1200" dirty="0">
                <a:solidFill>
                  <a:srgbClr val="1E2761"/>
                </a:solidFill>
                <a:latin typeface="Calibri" pitchFamily="34" charset="0"/>
                <a:ea typeface="Calibri" pitchFamily="34" charset="-122"/>
                <a:cs typeface="Calibri" pitchFamily="34" charset="-120"/>
              </a:rPr>
              <a:t>65%</a:t>
            </a:r>
            <a:endParaRPr lang="en-US" sz="1200" dirty="0"/>
          </a:p>
        </p:txBody>
      </p:sp>
      <p:sp>
        <p:nvSpPr>
          <p:cNvPr id="30" name="Shape 28"/>
          <p:cNvSpPr/>
          <p:nvPr/>
        </p:nvSpPr>
        <p:spPr>
          <a:xfrm>
            <a:off x="640080" y="4956048"/>
            <a:ext cx="3520440" cy="146304"/>
          </a:xfrm>
          <a:prstGeom prst="roundRect">
            <a:avLst>
              <a:gd name="adj" fmla="val 18750"/>
            </a:avLst>
          </a:prstGeom>
          <a:solidFill>
            <a:srgbClr val="E7ECF6"/>
          </a:solidFill>
          <a:ln/>
        </p:spPr>
      </p:sp>
      <p:sp>
        <p:nvSpPr>
          <p:cNvPr id="31" name="Shape 29"/>
          <p:cNvSpPr/>
          <p:nvPr/>
        </p:nvSpPr>
        <p:spPr>
          <a:xfrm>
            <a:off x="640080" y="4956048"/>
            <a:ext cx="2288286" cy="146304"/>
          </a:xfrm>
          <a:prstGeom prst="roundRect">
            <a:avLst>
              <a:gd name="adj" fmla="val 18750"/>
            </a:avLst>
          </a:prstGeom>
          <a:solidFill>
            <a:srgbClr val="1E2761"/>
          </a:solidFill>
          <a:ln/>
        </p:spPr>
      </p:sp>
      <p:sp>
        <p:nvSpPr>
          <p:cNvPr id="32" name="Text 30"/>
          <p:cNvSpPr/>
          <p:nvPr/>
        </p:nvSpPr>
        <p:spPr>
          <a:xfrm>
            <a:off x="4480560" y="4572000"/>
            <a:ext cx="3520440" cy="320040"/>
          </a:xfrm>
          <a:prstGeom prst="rect">
            <a:avLst/>
          </a:prstGeom>
          <a:noFill/>
          <a:ln/>
        </p:spPr>
        <p:txBody>
          <a:bodyPr wrap="square" lIns="0" tIns="0" rIns="0" bIns="0" rtlCol="0" anchor="ctr"/>
          <a:lstStyle/>
          <a:p>
            <a:pPr indent="0" marL="0">
              <a:buNone/>
            </a:pPr>
            <a:r>
              <a:rPr lang="en-US" sz="1350" b="1" dirty="0">
                <a:solidFill>
                  <a:srgbClr val="1F2430"/>
                </a:solidFill>
                <a:latin typeface="Calibri" pitchFamily="34" charset="0"/>
                <a:ea typeface="Calibri" pitchFamily="34" charset="-122"/>
                <a:cs typeface="Calibri" pitchFamily="34" charset="-120"/>
              </a:rPr>
              <a:t>Cloud (AWS)</a:t>
            </a:r>
            <a:endParaRPr lang="en-US" sz="1350" dirty="0"/>
          </a:p>
        </p:txBody>
      </p:sp>
      <p:sp>
        <p:nvSpPr>
          <p:cNvPr id="33" name="Text 31"/>
          <p:cNvSpPr/>
          <p:nvPr/>
        </p:nvSpPr>
        <p:spPr>
          <a:xfrm>
            <a:off x="4480560" y="4572000"/>
            <a:ext cx="3520440" cy="320040"/>
          </a:xfrm>
          <a:prstGeom prst="rect">
            <a:avLst/>
          </a:prstGeom>
          <a:noFill/>
          <a:ln/>
        </p:spPr>
        <p:txBody>
          <a:bodyPr wrap="square" lIns="0" tIns="0" rIns="0" bIns="0" rtlCol="0" anchor="ctr"/>
          <a:lstStyle/>
          <a:p>
            <a:pPr algn="r" indent="0" marL="0">
              <a:buNone/>
            </a:pPr>
            <a:r>
              <a:rPr lang="en-US" sz="1200" dirty="0">
                <a:solidFill>
                  <a:srgbClr val="1E2761"/>
                </a:solidFill>
                <a:latin typeface="Calibri" pitchFamily="34" charset="0"/>
                <a:ea typeface="Calibri" pitchFamily="34" charset="-122"/>
                <a:cs typeface="Calibri" pitchFamily="34" charset="-120"/>
              </a:rPr>
              <a:t>70%</a:t>
            </a:r>
            <a:endParaRPr lang="en-US" sz="1200" dirty="0"/>
          </a:p>
        </p:txBody>
      </p:sp>
      <p:sp>
        <p:nvSpPr>
          <p:cNvPr id="34" name="Shape 32"/>
          <p:cNvSpPr/>
          <p:nvPr/>
        </p:nvSpPr>
        <p:spPr>
          <a:xfrm>
            <a:off x="4480560" y="4956048"/>
            <a:ext cx="3520440" cy="146304"/>
          </a:xfrm>
          <a:prstGeom prst="roundRect">
            <a:avLst>
              <a:gd name="adj" fmla="val 18750"/>
            </a:avLst>
          </a:prstGeom>
          <a:solidFill>
            <a:srgbClr val="E7ECF6"/>
          </a:solidFill>
          <a:ln/>
        </p:spPr>
      </p:sp>
      <p:sp>
        <p:nvSpPr>
          <p:cNvPr id="35" name="Shape 33"/>
          <p:cNvSpPr/>
          <p:nvPr/>
        </p:nvSpPr>
        <p:spPr>
          <a:xfrm>
            <a:off x="4480560" y="4956048"/>
            <a:ext cx="2464308" cy="146304"/>
          </a:xfrm>
          <a:prstGeom prst="roundRect">
            <a:avLst>
              <a:gd name="adj" fmla="val 18750"/>
            </a:avLst>
          </a:prstGeom>
          <a:solidFill>
            <a:srgbClr val="1E2761"/>
          </a:solidFill>
          <a:ln/>
        </p:spPr>
      </p:sp>
      <p:sp>
        <p:nvSpPr>
          <p:cNvPr id="36" name="Text 34"/>
          <p:cNvSpPr/>
          <p:nvPr/>
        </p:nvSpPr>
        <p:spPr>
          <a:xfrm>
            <a:off x="8321040" y="4572000"/>
            <a:ext cx="3520440" cy="320040"/>
          </a:xfrm>
          <a:prstGeom prst="rect">
            <a:avLst/>
          </a:prstGeom>
          <a:noFill/>
          <a:ln/>
        </p:spPr>
        <p:txBody>
          <a:bodyPr wrap="square" lIns="0" tIns="0" rIns="0" bIns="0" rtlCol="0" anchor="ctr"/>
          <a:lstStyle/>
          <a:p>
            <a:pPr indent="0" marL="0">
              <a:buNone/>
            </a:pPr>
            <a:r>
              <a:rPr lang="en-US" sz="1350" b="1" dirty="0">
                <a:solidFill>
                  <a:srgbClr val="1F2430"/>
                </a:solidFill>
                <a:latin typeface="Calibri" pitchFamily="34" charset="0"/>
                <a:ea typeface="Calibri" pitchFamily="34" charset="-122"/>
                <a:cs typeface="Calibri" pitchFamily="34" charset="-120"/>
              </a:rPr>
              <a:t>Networking (CCNA)</a:t>
            </a:r>
            <a:endParaRPr lang="en-US" sz="1350" dirty="0"/>
          </a:p>
        </p:txBody>
      </p:sp>
      <p:sp>
        <p:nvSpPr>
          <p:cNvPr id="37" name="Text 35"/>
          <p:cNvSpPr/>
          <p:nvPr/>
        </p:nvSpPr>
        <p:spPr>
          <a:xfrm>
            <a:off x="8321040" y="4572000"/>
            <a:ext cx="3520440" cy="320040"/>
          </a:xfrm>
          <a:prstGeom prst="rect">
            <a:avLst/>
          </a:prstGeom>
          <a:noFill/>
          <a:ln/>
        </p:spPr>
        <p:txBody>
          <a:bodyPr wrap="square" lIns="0" tIns="0" rIns="0" bIns="0" rtlCol="0" anchor="ctr"/>
          <a:lstStyle/>
          <a:p>
            <a:pPr algn="r" indent="0" marL="0">
              <a:buNone/>
            </a:pPr>
            <a:r>
              <a:rPr lang="en-US" sz="1200" dirty="0">
                <a:solidFill>
                  <a:srgbClr val="1E2761"/>
                </a:solidFill>
                <a:latin typeface="Calibri" pitchFamily="34" charset="0"/>
                <a:ea typeface="Calibri" pitchFamily="34" charset="-122"/>
                <a:cs typeface="Calibri" pitchFamily="34" charset="-120"/>
              </a:rPr>
              <a:t>70%</a:t>
            </a:r>
            <a:endParaRPr lang="en-US" sz="1200" dirty="0"/>
          </a:p>
        </p:txBody>
      </p:sp>
      <p:sp>
        <p:nvSpPr>
          <p:cNvPr id="38" name="Shape 36"/>
          <p:cNvSpPr/>
          <p:nvPr/>
        </p:nvSpPr>
        <p:spPr>
          <a:xfrm>
            <a:off x="8321040" y="4956048"/>
            <a:ext cx="3520440" cy="146304"/>
          </a:xfrm>
          <a:prstGeom prst="roundRect">
            <a:avLst>
              <a:gd name="adj" fmla="val 18750"/>
            </a:avLst>
          </a:prstGeom>
          <a:solidFill>
            <a:srgbClr val="E7ECF6"/>
          </a:solidFill>
          <a:ln/>
        </p:spPr>
      </p:sp>
      <p:sp>
        <p:nvSpPr>
          <p:cNvPr id="39" name="Shape 37"/>
          <p:cNvSpPr/>
          <p:nvPr/>
        </p:nvSpPr>
        <p:spPr>
          <a:xfrm>
            <a:off x="8321040" y="4956048"/>
            <a:ext cx="2464308" cy="146304"/>
          </a:xfrm>
          <a:prstGeom prst="roundRect">
            <a:avLst>
              <a:gd name="adj" fmla="val 18750"/>
            </a:avLst>
          </a:prstGeom>
          <a:solidFill>
            <a:srgbClr val="1E2761"/>
          </a:solidFill>
          <a:ln/>
        </p:spPr>
      </p:sp>
      <p:sp>
        <p:nvSpPr>
          <p:cNvPr id="40" name="Shape 38"/>
          <p:cNvSpPr/>
          <p:nvPr/>
        </p:nvSpPr>
        <p:spPr>
          <a:xfrm>
            <a:off x="640080" y="5806440"/>
            <a:ext cx="10881360" cy="685800"/>
          </a:xfrm>
          <a:prstGeom prst="rect">
            <a:avLst/>
          </a:prstGeom>
          <a:solidFill>
            <a:srgbClr val="F4F6FB"/>
          </a:solidFill>
          <a:ln w="12700">
            <a:solidFill>
              <a:srgbClr val="CADCFC"/>
            </a:solidFill>
            <a:prstDash val="solid"/>
          </a:ln>
        </p:spPr>
      </p:sp>
      <p:sp>
        <p:nvSpPr>
          <p:cNvPr id="41" name="Text 39"/>
          <p:cNvSpPr/>
          <p:nvPr/>
        </p:nvSpPr>
        <p:spPr>
          <a:xfrm>
            <a:off x="868680" y="5806440"/>
            <a:ext cx="10424160" cy="685800"/>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Certifications:  </a:t>
            </a:r>
            <a:pPr indent="0" marL="0">
              <a:buNone/>
            </a:pPr>
            <a:r>
              <a:rPr lang="en-US" sz="1150" dirty="0">
                <a:solidFill>
                  <a:srgbClr val="1F2430"/>
                </a:solidFill>
                <a:latin typeface="Calibri" pitchFamily="34" charset="0"/>
                <a:ea typeface="Calibri" pitchFamily="34" charset="-122"/>
                <a:cs typeface="Calibri" pitchFamily="34" charset="-120"/>
              </a:rPr>
              <a:t>AWS Academy Cloud Foundations   •   CCNA Fundamentals   •   Generative AI for Beginners   •   Data Analytics   •   Design Drones for Smart Applications</a:t>
            </a:r>
            <a:endParaRPr lang="en-US" sz="1150" dirty="0"/>
          </a:p>
        </p:txBody>
      </p:sp>
      <p:sp>
        <p:nvSpPr>
          <p:cNvPr id="42" name="Text 40"/>
          <p:cNvSpPr/>
          <p:nvPr/>
        </p:nvSpPr>
        <p:spPr>
          <a:xfrm>
            <a:off x="11430000" y="6446520"/>
            <a:ext cx="548640" cy="32004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457200"/>
          </a:xfrm>
          <a:prstGeom prst="rect">
            <a:avLst/>
          </a:prstGeom>
          <a:noFill/>
          <a:ln/>
        </p:spPr>
        <p:txBody>
          <a:bodyPr wrap="square" lIns="0" tIns="0" rIns="0" bIns="0" rtlCol="0" anchor="ctr"/>
          <a:lstStyle/>
          <a:p>
            <a:pPr indent="0" marL="0">
              <a:buNone/>
            </a:pPr>
            <a:r>
              <a:rPr lang="en-US" sz="1300" spc="200" kern="0" dirty="0">
                <a:solidFill>
                  <a:srgbClr val="B08D57"/>
                </a:solidFill>
                <a:latin typeface="Calibri" pitchFamily="34" charset="0"/>
                <a:ea typeface="Calibri" pitchFamily="34" charset="-122"/>
                <a:cs typeface="Calibri" pitchFamily="34" charset="-120"/>
              </a:rPr>
              <a:t>FEATURED PROJECT</a:t>
            </a:r>
            <a:endParaRPr lang="en-US" sz="1300" dirty="0"/>
          </a:p>
        </p:txBody>
      </p:sp>
      <p:sp>
        <p:nvSpPr>
          <p:cNvPr id="3" name="Text 1"/>
          <p:cNvSpPr/>
          <p:nvPr/>
        </p:nvSpPr>
        <p:spPr>
          <a:xfrm>
            <a:off x="640080" y="822960"/>
            <a:ext cx="731520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MEDISEC ML</a:t>
            </a:r>
            <a:endParaRPr lang="en-US" sz="3000" dirty="0"/>
          </a:p>
        </p:txBody>
      </p:sp>
      <p:sp>
        <p:nvSpPr>
          <p:cNvPr id="4" name="Text 2"/>
          <p:cNvSpPr/>
          <p:nvPr/>
        </p:nvSpPr>
        <p:spPr>
          <a:xfrm>
            <a:off x="640080" y="1417320"/>
            <a:ext cx="6858000" cy="457200"/>
          </a:xfrm>
          <a:prstGeom prst="rect">
            <a:avLst/>
          </a:prstGeom>
          <a:noFill/>
          <a:ln/>
        </p:spPr>
        <p:txBody>
          <a:bodyPr wrap="square" lIns="0" tIns="0" rIns="0" bIns="0" rtlCol="0" anchor="ctr"/>
          <a:lstStyle/>
          <a:p>
            <a:pPr indent="0" marL="0">
              <a:buNone/>
            </a:pPr>
            <a:r>
              <a:rPr lang="en-US" sz="1350" i="1" dirty="0">
                <a:solidFill>
                  <a:srgbClr val="5B6472"/>
                </a:solidFill>
                <a:latin typeface="Calibri" pitchFamily="34" charset="0"/>
                <a:ea typeface="Calibri" pitchFamily="34" charset="-122"/>
                <a:cs typeface="Calibri" pitchFamily="34" charset="-120"/>
              </a:rPr>
              <a:t>Secure Stream Cipher Framework for Medical Imaging Using Machine Learning</a:t>
            </a:r>
            <a:endParaRPr lang="en-US" sz="1350" dirty="0"/>
          </a:p>
        </p:txBody>
      </p:sp>
      <p:sp>
        <p:nvSpPr>
          <p:cNvPr id="5" name="Text 3"/>
          <p:cNvSpPr/>
          <p:nvPr/>
        </p:nvSpPr>
        <p:spPr>
          <a:xfrm>
            <a:off x="640080" y="2011680"/>
            <a:ext cx="6858000" cy="1554480"/>
          </a:xfrm>
          <a:prstGeom prst="rect">
            <a:avLst/>
          </a:prstGeom>
          <a:noFill/>
          <a:ln/>
        </p:spPr>
        <p:txBody>
          <a:bodyPr wrap="square" lIns="0" tIns="0" rIns="0" bIns="0" rtlCol="0" anchor="ctr"/>
          <a:lstStyle/>
          <a:p>
            <a:pPr indent="0" marL="0">
              <a:lnSpc>
                <a:spcPct val="135000"/>
              </a:lnSpc>
              <a:buNone/>
            </a:pPr>
            <a:r>
              <a:rPr lang="en-US" sz="1300" dirty="0">
                <a:solidFill>
                  <a:srgbClr val="1F2430"/>
                </a:solidFill>
                <a:latin typeface="Calibri" pitchFamily="34" charset="0"/>
                <a:ea typeface="Calibri" pitchFamily="34" charset="-122"/>
                <a:cs typeface="Calibri" pitchFamily="34" charset="-120"/>
              </a:rPr>
              <a:t>Designed a machine learning-based secure stream cipher framework to protect medical images. Implemented encryption and decryption pipelines and evaluated system performance using PSNR, SSIM, Entropy and NPCR metrics to confirm reconstruction quality, structural similarity, randomness and sensitivity to plaintext changes.</a:t>
            </a:r>
            <a:endParaRPr lang="en-US" sz="1300" dirty="0"/>
          </a:p>
        </p:txBody>
      </p:sp>
      <p:sp>
        <p:nvSpPr>
          <p:cNvPr id="6" name="Text 4"/>
          <p:cNvSpPr/>
          <p:nvPr/>
        </p:nvSpPr>
        <p:spPr>
          <a:xfrm>
            <a:off x="640080" y="3657600"/>
            <a:ext cx="2743200" cy="320040"/>
          </a:xfrm>
          <a:prstGeom prst="rect">
            <a:avLst/>
          </a:prstGeom>
          <a:noFill/>
          <a:ln/>
        </p:spPr>
        <p:txBody>
          <a:bodyPr wrap="square" lIns="0" tIns="0" rIns="0" bIns="0" rtlCol="0" anchor="ctr"/>
          <a:lstStyle/>
          <a:p>
            <a:pPr indent="0" marL="0">
              <a:buNone/>
            </a:pPr>
            <a:r>
              <a:rPr lang="en-US" sz="1300" b="1" dirty="0">
                <a:solidFill>
                  <a:srgbClr val="1E2761"/>
                </a:solidFill>
                <a:latin typeface="Cambria" pitchFamily="34" charset="0"/>
                <a:ea typeface="Cambria" pitchFamily="34" charset="-122"/>
                <a:cs typeface="Cambria" pitchFamily="34" charset="-120"/>
              </a:rPr>
              <a:t>TECHNOLOGIES</a:t>
            </a:r>
            <a:endParaRPr lang="en-US" sz="1300" dirty="0"/>
          </a:p>
        </p:txBody>
      </p:sp>
      <p:sp>
        <p:nvSpPr>
          <p:cNvPr id="7" name="Shape 5"/>
          <p:cNvSpPr/>
          <p:nvPr/>
        </p:nvSpPr>
        <p:spPr>
          <a:xfrm>
            <a:off x="640080" y="4023360"/>
            <a:ext cx="749808" cy="347472"/>
          </a:xfrm>
          <a:prstGeom prst="roundRect">
            <a:avLst>
              <a:gd name="adj" fmla="val 15789"/>
            </a:avLst>
          </a:prstGeom>
          <a:solidFill>
            <a:srgbClr val="EEF1F9"/>
          </a:solidFill>
          <a:ln w="9525">
            <a:solidFill>
              <a:srgbClr val="CADCFC"/>
            </a:solidFill>
            <a:prstDash val="solid"/>
          </a:ln>
        </p:spPr>
      </p:sp>
      <p:sp>
        <p:nvSpPr>
          <p:cNvPr id="8" name="Text 6"/>
          <p:cNvSpPr/>
          <p:nvPr/>
        </p:nvSpPr>
        <p:spPr>
          <a:xfrm>
            <a:off x="640080" y="4023360"/>
            <a:ext cx="749808" cy="347472"/>
          </a:xfrm>
          <a:prstGeom prst="rect">
            <a:avLst/>
          </a:prstGeom>
          <a:noFill/>
          <a:ln/>
        </p:spPr>
        <p:txBody>
          <a:bodyPr wrap="square" lIns="0" tIns="0" rIns="0" bIns="0" rtlCol="0" anchor="ctr"/>
          <a:lstStyle/>
          <a:p>
            <a:pPr algn="ctr" indent="0" marL="0">
              <a:buNone/>
            </a:pPr>
            <a:r>
              <a:rPr lang="en-US" sz="1050" dirty="0">
                <a:solidFill>
                  <a:srgbClr val="1E2761"/>
                </a:solidFill>
                <a:latin typeface="Calibri" pitchFamily="34" charset="0"/>
                <a:ea typeface="Calibri" pitchFamily="34" charset="-122"/>
                <a:cs typeface="Calibri" pitchFamily="34" charset="-120"/>
              </a:rPr>
              <a:t>Python</a:t>
            </a:r>
            <a:endParaRPr lang="en-US" sz="1050" dirty="0"/>
          </a:p>
        </p:txBody>
      </p:sp>
      <p:sp>
        <p:nvSpPr>
          <p:cNvPr id="9" name="Shape 7"/>
          <p:cNvSpPr/>
          <p:nvPr/>
        </p:nvSpPr>
        <p:spPr>
          <a:xfrm>
            <a:off x="1527048" y="4023360"/>
            <a:ext cx="1572768" cy="347472"/>
          </a:xfrm>
          <a:prstGeom prst="roundRect">
            <a:avLst>
              <a:gd name="adj" fmla="val 15789"/>
            </a:avLst>
          </a:prstGeom>
          <a:solidFill>
            <a:srgbClr val="EEF1F9"/>
          </a:solidFill>
          <a:ln w="9525">
            <a:solidFill>
              <a:srgbClr val="CADCFC"/>
            </a:solidFill>
            <a:prstDash val="solid"/>
          </a:ln>
        </p:spPr>
      </p:sp>
      <p:sp>
        <p:nvSpPr>
          <p:cNvPr id="10" name="Text 8"/>
          <p:cNvSpPr/>
          <p:nvPr/>
        </p:nvSpPr>
        <p:spPr>
          <a:xfrm>
            <a:off x="1527048" y="4023360"/>
            <a:ext cx="1572768" cy="347472"/>
          </a:xfrm>
          <a:prstGeom prst="rect">
            <a:avLst/>
          </a:prstGeom>
          <a:noFill/>
          <a:ln/>
        </p:spPr>
        <p:txBody>
          <a:bodyPr wrap="square" lIns="0" tIns="0" rIns="0" bIns="0" rtlCol="0" anchor="ctr"/>
          <a:lstStyle/>
          <a:p>
            <a:pPr algn="ctr" indent="0" marL="0">
              <a:buNone/>
            </a:pPr>
            <a:r>
              <a:rPr lang="en-US" sz="1050" dirty="0">
                <a:solidFill>
                  <a:srgbClr val="1E2761"/>
                </a:solidFill>
                <a:latin typeface="Calibri" pitchFamily="34" charset="0"/>
                <a:ea typeface="Calibri" pitchFamily="34" charset="-122"/>
                <a:cs typeface="Calibri" pitchFamily="34" charset="-120"/>
              </a:rPr>
              <a:t>Machine Learning</a:t>
            </a:r>
            <a:endParaRPr lang="en-US" sz="1050" dirty="0"/>
          </a:p>
        </p:txBody>
      </p:sp>
      <p:sp>
        <p:nvSpPr>
          <p:cNvPr id="11" name="Shape 9"/>
          <p:cNvSpPr/>
          <p:nvPr/>
        </p:nvSpPr>
        <p:spPr>
          <a:xfrm>
            <a:off x="3236976" y="4023360"/>
            <a:ext cx="1078992" cy="347472"/>
          </a:xfrm>
          <a:prstGeom prst="roundRect">
            <a:avLst>
              <a:gd name="adj" fmla="val 15789"/>
            </a:avLst>
          </a:prstGeom>
          <a:solidFill>
            <a:srgbClr val="EEF1F9"/>
          </a:solidFill>
          <a:ln w="9525">
            <a:solidFill>
              <a:srgbClr val="CADCFC"/>
            </a:solidFill>
            <a:prstDash val="solid"/>
          </a:ln>
        </p:spPr>
      </p:sp>
      <p:sp>
        <p:nvSpPr>
          <p:cNvPr id="12" name="Text 10"/>
          <p:cNvSpPr/>
          <p:nvPr/>
        </p:nvSpPr>
        <p:spPr>
          <a:xfrm>
            <a:off x="3236976" y="4023360"/>
            <a:ext cx="1078992" cy="347472"/>
          </a:xfrm>
          <a:prstGeom prst="rect">
            <a:avLst/>
          </a:prstGeom>
          <a:noFill/>
          <a:ln/>
        </p:spPr>
        <p:txBody>
          <a:bodyPr wrap="square" lIns="0" tIns="0" rIns="0" bIns="0" rtlCol="0" anchor="ctr"/>
          <a:lstStyle/>
          <a:p>
            <a:pPr algn="ctr" indent="0" marL="0">
              <a:buNone/>
            </a:pPr>
            <a:r>
              <a:rPr lang="en-US" sz="1050" dirty="0">
                <a:solidFill>
                  <a:srgbClr val="1E2761"/>
                </a:solidFill>
                <a:latin typeface="Calibri" pitchFamily="34" charset="0"/>
                <a:ea typeface="Calibri" pitchFamily="34" charset="-122"/>
                <a:cs typeface="Calibri" pitchFamily="34" charset="-120"/>
              </a:rPr>
              <a:t>TensorFlow</a:t>
            </a:r>
            <a:endParaRPr lang="en-US" sz="1050" dirty="0"/>
          </a:p>
        </p:txBody>
      </p:sp>
      <p:sp>
        <p:nvSpPr>
          <p:cNvPr id="13" name="Shape 11"/>
          <p:cNvSpPr/>
          <p:nvPr/>
        </p:nvSpPr>
        <p:spPr>
          <a:xfrm>
            <a:off x="4453128" y="4023360"/>
            <a:ext cx="749808" cy="347472"/>
          </a:xfrm>
          <a:prstGeom prst="roundRect">
            <a:avLst>
              <a:gd name="adj" fmla="val 15789"/>
            </a:avLst>
          </a:prstGeom>
          <a:solidFill>
            <a:srgbClr val="EEF1F9"/>
          </a:solidFill>
          <a:ln w="9525">
            <a:solidFill>
              <a:srgbClr val="CADCFC"/>
            </a:solidFill>
            <a:prstDash val="solid"/>
          </a:ln>
        </p:spPr>
      </p:sp>
      <p:sp>
        <p:nvSpPr>
          <p:cNvPr id="14" name="Text 12"/>
          <p:cNvSpPr/>
          <p:nvPr/>
        </p:nvSpPr>
        <p:spPr>
          <a:xfrm>
            <a:off x="4453128" y="4023360"/>
            <a:ext cx="749808" cy="347472"/>
          </a:xfrm>
          <a:prstGeom prst="rect">
            <a:avLst/>
          </a:prstGeom>
          <a:noFill/>
          <a:ln/>
        </p:spPr>
        <p:txBody>
          <a:bodyPr wrap="square" lIns="0" tIns="0" rIns="0" bIns="0" rtlCol="0" anchor="ctr"/>
          <a:lstStyle/>
          <a:p>
            <a:pPr algn="ctr" indent="0" marL="0">
              <a:buNone/>
            </a:pPr>
            <a:r>
              <a:rPr lang="en-US" sz="1050" dirty="0">
                <a:solidFill>
                  <a:srgbClr val="1E2761"/>
                </a:solidFill>
                <a:latin typeface="Calibri" pitchFamily="34" charset="0"/>
                <a:ea typeface="Calibri" pitchFamily="34" charset="-122"/>
                <a:cs typeface="Calibri" pitchFamily="34" charset="-120"/>
              </a:rPr>
              <a:t>OpenCV</a:t>
            </a:r>
            <a:endParaRPr lang="en-US" sz="1050" dirty="0"/>
          </a:p>
        </p:txBody>
      </p:sp>
      <p:sp>
        <p:nvSpPr>
          <p:cNvPr id="15" name="Shape 13"/>
          <p:cNvSpPr/>
          <p:nvPr/>
        </p:nvSpPr>
        <p:spPr>
          <a:xfrm>
            <a:off x="5340096" y="4023360"/>
            <a:ext cx="1572768" cy="347472"/>
          </a:xfrm>
          <a:prstGeom prst="roundRect">
            <a:avLst>
              <a:gd name="adj" fmla="val 15789"/>
            </a:avLst>
          </a:prstGeom>
          <a:solidFill>
            <a:srgbClr val="EEF1F9"/>
          </a:solidFill>
          <a:ln w="9525">
            <a:solidFill>
              <a:srgbClr val="CADCFC"/>
            </a:solidFill>
            <a:prstDash val="solid"/>
          </a:ln>
        </p:spPr>
      </p:sp>
      <p:sp>
        <p:nvSpPr>
          <p:cNvPr id="16" name="Text 14"/>
          <p:cNvSpPr/>
          <p:nvPr/>
        </p:nvSpPr>
        <p:spPr>
          <a:xfrm>
            <a:off x="5340096" y="4023360"/>
            <a:ext cx="1572768" cy="347472"/>
          </a:xfrm>
          <a:prstGeom prst="rect">
            <a:avLst/>
          </a:prstGeom>
          <a:noFill/>
          <a:ln/>
        </p:spPr>
        <p:txBody>
          <a:bodyPr wrap="square" lIns="0" tIns="0" rIns="0" bIns="0" rtlCol="0" anchor="ctr"/>
          <a:lstStyle/>
          <a:p>
            <a:pPr algn="ctr" indent="0" marL="0">
              <a:buNone/>
            </a:pPr>
            <a:r>
              <a:rPr lang="en-US" sz="1050" dirty="0">
                <a:solidFill>
                  <a:srgbClr val="1E2761"/>
                </a:solidFill>
                <a:latin typeface="Calibri" pitchFamily="34" charset="0"/>
                <a:ea typeface="Calibri" pitchFamily="34" charset="-122"/>
                <a:cs typeface="Calibri" pitchFamily="34" charset="-120"/>
              </a:rPr>
              <a:t>Image Encryption</a:t>
            </a:r>
            <a:endParaRPr lang="en-US" sz="1050" dirty="0"/>
          </a:p>
        </p:txBody>
      </p:sp>
      <p:sp>
        <p:nvSpPr>
          <p:cNvPr id="17" name="Text 15"/>
          <p:cNvSpPr/>
          <p:nvPr/>
        </p:nvSpPr>
        <p:spPr>
          <a:xfrm>
            <a:off x="640080" y="4709160"/>
            <a:ext cx="5486400" cy="36576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github.com/Purnachandraraochimata/medisecml</a:t>
            </a:r>
            <a:endParaRPr lang="en-US" sz="1200" dirty="0"/>
          </a:p>
        </p:txBody>
      </p:sp>
      <p:sp>
        <p:nvSpPr>
          <p:cNvPr id="18" name="Shape 16"/>
          <p:cNvSpPr/>
          <p:nvPr/>
        </p:nvSpPr>
        <p:spPr>
          <a:xfrm>
            <a:off x="8001000" y="502920"/>
            <a:ext cx="3520440" cy="5852160"/>
          </a:xfrm>
          <a:prstGeom prst="rect">
            <a:avLst/>
          </a:prstGeom>
          <a:solidFill>
            <a:srgbClr val="141A44"/>
          </a:solidFill>
          <a:ln/>
        </p:spPr>
      </p:sp>
      <p:pic>
        <p:nvPicPr>
          <p:cNvPr id="19" name="Image 0" descr="medisec.png">    </p:cNvPr>
          <p:cNvPicPr>
            <a:picLocks noChangeAspect="1"/>
          </p:cNvPicPr>
          <p:nvPr/>
        </p:nvPicPr>
        <p:blipFill>
          <a:blip r:embed="rId1"/>
          <a:stretch>
            <a:fillRect/>
          </a:stretch>
        </p:blipFill>
        <p:spPr>
          <a:xfrm>
            <a:off x="8183880" y="1280160"/>
            <a:ext cx="3154680" cy="1773936"/>
          </a:xfrm>
          <a:prstGeom prst="rect">
            <a:avLst/>
          </a:prstGeom>
        </p:spPr>
      </p:pic>
      <p:sp>
        <p:nvSpPr>
          <p:cNvPr id="20" name="Text 17"/>
          <p:cNvSpPr/>
          <p:nvPr/>
        </p:nvSpPr>
        <p:spPr>
          <a:xfrm>
            <a:off x="8183880" y="3246120"/>
            <a:ext cx="3154680" cy="914400"/>
          </a:xfrm>
          <a:prstGeom prst="rect">
            <a:avLst/>
          </a:prstGeom>
          <a:noFill/>
          <a:ln/>
        </p:spPr>
        <p:txBody>
          <a:bodyPr wrap="square" lIns="0" tIns="0" rIns="0" bIns="0" rtlCol="0" anchor="ctr"/>
          <a:lstStyle/>
          <a:p>
            <a:pPr indent="0" marL="0">
              <a:lnSpc>
                <a:spcPct val="130000"/>
              </a:lnSpc>
              <a:buNone/>
            </a:pPr>
            <a:r>
              <a:rPr lang="en-US" sz="1100" i="1" dirty="0">
                <a:solidFill>
                  <a:srgbClr val="CADCFC"/>
                </a:solidFill>
                <a:latin typeface="Calibri" pitchFamily="34" charset="0"/>
                <a:ea typeface="Calibri" pitchFamily="34" charset="-122"/>
                <a:cs typeface="Calibri" pitchFamily="34" charset="-120"/>
              </a:rPr>
              <a:t>Performance validated on PSNR, SSIM, Entropy and NPCR metrics.</a:t>
            </a:r>
            <a:endParaRPr lang="en-US" sz="1100" dirty="0"/>
          </a:p>
        </p:txBody>
      </p:sp>
      <p:sp>
        <p:nvSpPr>
          <p:cNvPr id="21" name="Shape 18"/>
          <p:cNvSpPr/>
          <p:nvPr/>
        </p:nvSpPr>
        <p:spPr>
          <a:xfrm>
            <a:off x="8183880" y="4343400"/>
            <a:ext cx="3154680" cy="0"/>
          </a:xfrm>
          <a:prstGeom prst="line">
            <a:avLst/>
          </a:prstGeom>
          <a:noFill/>
          <a:ln w="12700">
            <a:solidFill>
              <a:srgbClr val="B08D57"/>
            </a:solidFill>
            <a:prstDash val="solid"/>
          </a:ln>
        </p:spPr>
      </p:sp>
      <p:sp>
        <p:nvSpPr>
          <p:cNvPr id="22" name="Text 19"/>
          <p:cNvSpPr/>
          <p:nvPr/>
        </p:nvSpPr>
        <p:spPr>
          <a:xfrm>
            <a:off x="8183880" y="4526280"/>
            <a:ext cx="3154680" cy="36576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Confidentiality  •  Integrity  •  Robustness</a:t>
            </a:r>
            <a:endParaRPr lang="en-US" sz="1100" dirty="0"/>
          </a:p>
        </p:txBody>
      </p:sp>
      <p:sp>
        <p:nvSpPr>
          <p:cNvPr id="23" name="Text 20"/>
          <p:cNvSpPr/>
          <p:nvPr/>
        </p:nvSpPr>
        <p:spPr>
          <a:xfrm>
            <a:off x="11430000" y="6446520"/>
            <a:ext cx="548640" cy="32004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7315200" cy="54864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ADDITIONAL PROJECTS</a:t>
            </a:r>
            <a:endParaRPr lang="en-US" sz="2800" dirty="0"/>
          </a:p>
        </p:txBody>
      </p:sp>
      <p:sp>
        <p:nvSpPr>
          <p:cNvPr id="3" name="Shape 1"/>
          <p:cNvSpPr/>
          <p:nvPr/>
        </p:nvSpPr>
        <p:spPr>
          <a:xfrm>
            <a:off x="640080" y="1554480"/>
            <a:ext cx="10881360" cy="1965960"/>
          </a:xfrm>
          <a:prstGeom prst="rect">
            <a:avLst/>
          </a:prstGeom>
          <a:solidFill>
            <a:srgbClr val="F4F6FB"/>
          </a:solidFill>
          <a:ln w="12700">
            <a:solidFill>
              <a:srgbClr val="CADCFC"/>
            </a:solidFill>
            <a:prstDash val="solid"/>
          </a:ln>
        </p:spPr>
      </p:sp>
      <p:sp>
        <p:nvSpPr>
          <p:cNvPr id="4" name="Shape 2"/>
          <p:cNvSpPr/>
          <p:nvPr/>
        </p:nvSpPr>
        <p:spPr>
          <a:xfrm>
            <a:off x="640080" y="1554480"/>
            <a:ext cx="109728" cy="1965960"/>
          </a:xfrm>
          <a:prstGeom prst="rect">
            <a:avLst/>
          </a:prstGeom>
          <a:solidFill>
            <a:srgbClr val="1E2761"/>
          </a:solidFill>
          <a:ln/>
        </p:spPr>
      </p:sp>
      <p:sp>
        <p:nvSpPr>
          <p:cNvPr id="5" name="Text 3"/>
          <p:cNvSpPr/>
          <p:nvPr/>
        </p:nvSpPr>
        <p:spPr>
          <a:xfrm>
            <a:off x="1051560" y="1737360"/>
            <a:ext cx="10149840" cy="41148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IoT Based Fertilizer System for Smart Agriculture</a:t>
            </a:r>
            <a:endParaRPr lang="en-US" sz="1700" dirty="0"/>
          </a:p>
        </p:txBody>
      </p:sp>
      <p:sp>
        <p:nvSpPr>
          <p:cNvPr id="6" name="Text 4"/>
          <p:cNvSpPr/>
          <p:nvPr/>
        </p:nvSpPr>
        <p:spPr>
          <a:xfrm>
            <a:off x="1051560" y="2212848"/>
            <a:ext cx="10058400" cy="1188720"/>
          </a:xfrm>
          <a:prstGeom prst="rect">
            <a:avLst/>
          </a:prstGeom>
          <a:noFill/>
          <a:ln/>
        </p:spPr>
        <p:txBody>
          <a:bodyPr wrap="square" lIns="0" tIns="0" rIns="0" bIns="0" rtlCol="0" anchor="ctr"/>
          <a:lstStyle/>
          <a:p>
            <a:pPr marL="342900" indent="-342900">
              <a:lnSpc>
                <a:spcPct val="125000"/>
              </a:lnSpc>
              <a:spcAft>
                <a:spcPts val="500"/>
              </a:spcAft>
              <a:buSzPct val="100000"/>
              <a:buChar char="▪"/>
            </a:pPr>
            <a:r>
              <a:rPr lang="en-US" sz="1250" dirty="0">
                <a:solidFill>
                  <a:srgbClr val="1F2430"/>
                </a:solidFill>
                <a:latin typeface="Calibri" pitchFamily="34" charset="0"/>
                <a:ea typeface="Calibri" pitchFamily="34" charset="-122"/>
                <a:cs typeface="Calibri" pitchFamily="34" charset="-120"/>
              </a:rPr>
              <a:t>Developed an IoT-based system to monitor soil moisture, pH and nutrient levels</a:t>
            </a:r>
            <a:endParaRPr lang="en-US" sz="1250" dirty="0"/>
          </a:p>
          <a:p>
            <a:pPr marL="342900" indent="-342900">
              <a:lnSpc>
                <a:spcPct val="125000"/>
              </a:lnSpc>
              <a:spcAft>
                <a:spcPts val="500"/>
              </a:spcAft>
              <a:buSzPct val="100000"/>
              <a:buChar char="▪"/>
            </a:pPr>
            <a:r>
              <a:rPr lang="en-US" sz="1250" dirty="0">
                <a:solidFill>
                  <a:srgbClr val="1F2430"/>
                </a:solidFill>
                <a:latin typeface="Calibri" pitchFamily="34" charset="0"/>
                <a:ea typeface="Calibri" pitchFamily="34" charset="-122"/>
                <a:cs typeface="Calibri" pitchFamily="34" charset="-120"/>
              </a:rPr>
              <a:t>Automated fertilizer recommendations to improve agricultural efficiency</a:t>
            </a:r>
            <a:endParaRPr lang="en-US" sz="1250" dirty="0"/>
          </a:p>
          <a:p>
            <a:pPr marL="342900" indent="-342900">
              <a:lnSpc>
                <a:spcPct val="125000"/>
              </a:lnSpc>
              <a:spcAft>
                <a:spcPts val="500"/>
              </a:spcAft>
              <a:buSzPct val="100000"/>
              <a:buChar char="▪"/>
            </a:pPr>
            <a:r>
              <a:rPr lang="en-US" sz="1250" dirty="0">
                <a:solidFill>
                  <a:srgbClr val="1F2430"/>
                </a:solidFill>
                <a:latin typeface="Calibri" pitchFamily="34" charset="0"/>
                <a:ea typeface="Calibri" pitchFamily="34" charset="-122"/>
                <a:cs typeface="Calibri" pitchFamily="34" charset="-120"/>
              </a:rPr>
              <a:t>Performed system testing and debugging to ensure reliability</a:t>
            </a:r>
            <a:endParaRPr lang="en-US" sz="1250" dirty="0"/>
          </a:p>
        </p:txBody>
      </p:sp>
      <p:sp>
        <p:nvSpPr>
          <p:cNvPr id="7" name="Shape 5"/>
          <p:cNvSpPr/>
          <p:nvPr/>
        </p:nvSpPr>
        <p:spPr>
          <a:xfrm>
            <a:off x="640080" y="3794760"/>
            <a:ext cx="10881360" cy="1965960"/>
          </a:xfrm>
          <a:prstGeom prst="rect">
            <a:avLst/>
          </a:prstGeom>
          <a:solidFill>
            <a:srgbClr val="F4F6FB"/>
          </a:solidFill>
          <a:ln w="12700">
            <a:solidFill>
              <a:srgbClr val="CADCFC"/>
            </a:solidFill>
            <a:prstDash val="solid"/>
          </a:ln>
        </p:spPr>
      </p:sp>
      <p:sp>
        <p:nvSpPr>
          <p:cNvPr id="8" name="Shape 6"/>
          <p:cNvSpPr/>
          <p:nvPr/>
        </p:nvSpPr>
        <p:spPr>
          <a:xfrm>
            <a:off x="640080" y="3794760"/>
            <a:ext cx="109728" cy="1965960"/>
          </a:xfrm>
          <a:prstGeom prst="rect">
            <a:avLst/>
          </a:prstGeom>
          <a:solidFill>
            <a:srgbClr val="1E2761"/>
          </a:solidFill>
          <a:ln/>
        </p:spPr>
      </p:sp>
      <p:sp>
        <p:nvSpPr>
          <p:cNvPr id="9" name="Text 7"/>
          <p:cNvSpPr/>
          <p:nvPr/>
        </p:nvSpPr>
        <p:spPr>
          <a:xfrm>
            <a:off x="1051560" y="3977640"/>
            <a:ext cx="10149840" cy="41148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AI-Based Healthcare Transportation Management System</a:t>
            </a:r>
            <a:endParaRPr lang="en-US" sz="1700" dirty="0"/>
          </a:p>
        </p:txBody>
      </p:sp>
      <p:sp>
        <p:nvSpPr>
          <p:cNvPr id="10" name="Text 8"/>
          <p:cNvSpPr/>
          <p:nvPr/>
        </p:nvSpPr>
        <p:spPr>
          <a:xfrm>
            <a:off x="1051560" y="4453128"/>
            <a:ext cx="10058400" cy="1188720"/>
          </a:xfrm>
          <a:prstGeom prst="rect">
            <a:avLst/>
          </a:prstGeom>
          <a:noFill/>
          <a:ln/>
        </p:spPr>
        <p:txBody>
          <a:bodyPr wrap="square" lIns="0" tIns="0" rIns="0" bIns="0" rtlCol="0" anchor="ctr"/>
          <a:lstStyle/>
          <a:p>
            <a:pPr marL="342900" indent="-342900">
              <a:lnSpc>
                <a:spcPct val="125000"/>
              </a:lnSpc>
              <a:spcAft>
                <a:spcPts val="500"/>
              </a:spcAft>
              <a:buSzPct val="100000"/>
              <a:buChar char="▪"/>
            </a:pPr>
            <a:r>
              <a:rPr lang="en-US" sz="1250" dirty="0">
                <a:solidFill>
                  <a:srgbClr val="1F2430"/>
                </a:solidFill>
                <a:latin typeface="Calibri" pitchFamily="34" charset="0"/>
                <a:ea typeface="Calibri" pitchFamily="34" charset="-122"/>
                <a:cs typeface="Calibri" pitchFamily="34" charset="-120"/>
              </a:rPr>
              <a:t>Developed an AI-powered transport management system for healthcare services</a:t>
            </a:r>
            <a:endParaRPr lang="en-US" sz="1250" dirty="0"/>
          </a:p>
          <a:p>
            <a:pPr marL="342900" indent="-342900">
              <a:lnSpc>
                <a:spcPct val="125000"/>
              </a:lnSpc>
              <a:spcAft>
                <a:spcPts val="500"/>
              </a:spcAft>
              <a:buSzPct val="100000"/>
              <a:buChar char="▪"/>
            </a:pPr>
            <a:r>
              <a:rPr lang="en-US" sz="1250" dirty="0">
                <a:solidFill>
                  <a:srgbClr val="1F2430"/>
                </a:solidFill>
                <a:latin typeface="Calibri" pitchFamily="34" charset="0"/>
                <a:ea typeface="Calibri" pitchFamily="34" charset="-122"/>
                <a:cs typeface="Calibri" pitchFamily="34" charset="-120"/>
              </a:rPr>
              <a:t>Applied machine learning techniques for route optimization and predictive analysis</a:t>
            </a:r>
            <a:endParaRPr lang="en-US" sz="1250" dirty="0"/>
          </a:p>
          <a:p>
            <a:pPr marL="342900" indent="-342900">
              <a:lnSpc>
                <a:spcPct val="125000"/>
              </a:lnSpc>
              <a:spcAft>
                <a:spcPts val="500"/>
              </a:spcAft>
              <a:buSzPct val="100000"/>
              <a:buChar char="▪"/>
            </a:pPr>
            <a:r>
              <a:rPr lang="en-US" sz="1250" dirty="0">
                <a:solidFill>
                  <a:srgbClr val="1F2430"/>
                </a:solidFill>
                <a:latin typeface="Calibri" pitchFamily="34" charset="0"/>
                <a:ea typeface="Calibri" pitchFamily="34" charset="-122"/>
                <a:cs typeface="Calibri" pitchFamily="34" charset="-120"/>
              </a:rPr>
              <a:t>Improved emergency response efficiency through intelligent transportation planning</a:t>
            </a:r>
            <a:endParaRPr lang="en-US" sz="1250" dirty="0"/>
          </a:p>
        </p:txBody>
      </p:sp>
      <p:sp>
        <p:nvSpPr>
          <p:cNvPr id="11" name="Text 9"/>
          <p:cNvSpPr/>
          <p:nvPr/>
        </p:nvSpPr>
        <p:spPr>
          <a:xfrm>
            <a:off x="11430000" y="6446520"/>
            <a:ext cx="548640" cy="32004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640080" y="1005840"/>
            <a:ext cx="731520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THANK YOU</a:t>
            </a:r>
            <a:endParaRPr lang="en-US" sz="3200" dirty="0"/>
          </a:p>
        </p:txBody>
      </p:sp>
      <p:sp>
        <p:nvSpPr>
          <p:cNvPr id="3" name="Text 1"/>
          <p:cNvSpPr/>
          <p:nvPr/>
        </p:nvSpPr>
        <p:spPr>
          <a:xfrm>
            <a:off x="640080" y="1737360"/>
            <a:ext cx="7315200" cy="457200"/>
          </a:xfrm>
          <a:prstGeom prst="rect">
            <a:avLst/>
          </a:prstGeom>
          <a:noFill/>
          <a:ln/>
        </p:spPr>
        <p:txBody>
          <a:bodyPr wrap="square" lIns="0" tIns="0" rIns="0" bIns="0" rtlCol="0" anchor="ctr"/>
          <a:lstStyle/>
          <a:p>
            <a:pPr indent="0" marL="0">
              <a:buNone/>
            </a:pPr>
            <a:r>
              <a:rPr lang="en-US" sz="1500" i="1" dirty="0">
                <a:solidFill>
                  <a:srgbClr val="CADCFC"/>
                </a:solidFill>
                <a:latin typeface="Calibri" pitchFamily="34" charset="0"/>
                <a:ea typeface="Calibri" pitchFamily="34" charset="-122"/>
                <a:cs typeface="Calibri" pitchFamily="34" charset="-120"/>
              </a:rPr>
              <a:t>Let's connect and build something practical together.</a:t>
            </a:r>
            <a:endParaRPr lang="en-US" sz="1500" dirty="0"/>
          </a:p>
        </p:txBody>
      </p:sp>
      <p:sp>
        <p:nvSpPr>
          <p:cNvPr id="4" name="Text 2"/>
          <p:cNvSpPr/>
          <p:nvPr/>
        </p:nvSpPr>
        <p:spPr>
          <a:xfrm>
            <a:off x="640080" y="2743200"/>
            <a:ext cx="1828800" cy="365760"/>
          </a:xfrm>
          <a:prstGeom prst="rect">
            <a:avLst/>
          </a:prstGeom>
          <a:noFill/>
          <a:ln/>
        </p:spPr>
        <p:txBody>
          <a:bodyPr wrap="square" lIns="0" tIns="0" rIns="0" bIns="0" rtlCol="0" anchor="ctr"/>
          <a:lstStyle/>
          <a:p>
            <a:pPr indent="0" marL="0">
              <a:buNone/>
            </a:pPr>
            <a:r>
              <a:rPr lang="en-US" sz="1150" b="1" spc="100" kern="0" dirty="0">
                <a:solidFill>
                  <a:srgbClr val="B08D57"/>
                </a:solidFill>
                <a:latin typeface="Calibri" pitchFamily="34" charset="0"/>
                <a:ea typeface="Calibri" pitchFamily="34" charset="-122"/>
                <a:cs typeface="Calibri" pitchFamily="34" charset="-120"/>
              </a:rPr>
              <a:t>EMAIL</a:t>
            </a:r>
            <a:endParaRPr lang="en-US" sz="1150" dirty="0"/>
          </a:p>
        </p:txBody>
      </p:sp>
      <p:sp>
        <p:nvSpPr>
          <p:cNvPr id="5" name="Text 3"/>
          <p:cNvSpPr/>
          <p:nvPr/>
        </p:nvSpPr>
        <p:spPr>
          <a:xfrm>
            <a:off x="2560320" y="2743200"/>
            <a:ext cx="640080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purnachandraraochimata@gmail.com</a:t>
            </a:r>
            <a:endParaRPr lang="en-US" sz="1400" dirty="0"/>
          </a:p>
        </p:txBody>
      </p:sp>
      <p:sp>
        <p:nvSpPr>
          <p:cNvPr id="6" name="Text 4"/>
          <p:cNvSpPr/>
          <p:nvPr/>
        </p:nvSpPr>
        <p:spPr>
          <a:xfrm>
            <a:off x="640080" y="3246120"/>
            <a:ext cx="1828800" cy="365760"/>
          </a:xfrm>
          <a:prstGeom prst="rect">
            <a:avLst/>
          </a:prstGeom>
          <a:noFill/>
          <a:ln/>
        </p:spPr>
        <p:txBody>
          <a:bodyPr wrap="square" lIns="0" tIns="0" rIns="0" bIns="0" rtlCol="0" anchor="ctr"/>
          <a:lstStyle/>
          <a:p>
            <a:pPr indent="0" marL="0">
              <a:buNone/>
            </a:pPr>
            <a:r>
              <a:rPr lang="en-US" sz="1150" b="1" spc="100" kern="0" dirty="0">
                <a:solidFill>
                  <a:srgbClr val="B08D57"/>
                </a:solidFill>
                <a:latin typeface="Calibri" pitchFamily="34" charset="0"/>
                <a:ea typeface="Calibri" pitchFamily="34" charset="-122"/>
                <a:cs typeface="Calibri" pitchFamily="34" charset="-120"/>
              </a:rPr>
              <a:t>PHONE</a:t>
            </a:r>
            <a:endParaRPr lang="en-US" sz="1150" dirty="0"/>
          </a:p>
        </p:txBody>
      </p:sp>
      <p:sp>
        <p:nvSpPr>
          <p:cNvPr id="7" name="Text 5"/>
          <p:cNvSpPr/>
          <p:nvPr/>
        </p:nvSpPr>
        <p:spPr>
          <a:xfrm>
            <a:off x="2560320" y="3246120"/>
            <a:ext cx="640080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+91 89195 00899</a:t>
            </a:r>
            <a:endParaRPr lang="en-US" sz="1400" dirty="0"/>
          </a:p>
        </p:txBody>
      </p:sp>
      <p:sp>
        <p:nvSpPr>
          <p:cNvPr id="8" name="Text 6"/>
          <p:cNvSpPr/>
          <p:nvPr/>
        </p:nvSpPr>
        <p:spPr>
          <a:xfrm>
            <a:off x="640080" y="3749040"/>
            <a:ext cx="1828800" cy="365760"/>
          </a:xfrm>
          <a:prstGeom prst="rect">
            <a:avLst/>
          </a:prstGeom>
          <a:noFill/>
          <a:ln/>
        </p:spPr>
        <p:txBody>
          <a:bodyPr wrap="square" lIns="0" tIns="0" rIns="0" bIns="0" rtlCol="0" anchor="ctr"/>
          <a:lstStyle/>
          <a:p>
            <a:pPr indent="0" marL="0">
              <a:buNone/>
            </a:pPr>
            <a:r>
              <a:rPr lang="en-US" sz="1150" b="1" spc="100" kern="0" dirty="0">
                <a:solidFill>
                  <a:srgbClr val="B08D57"/>
                </a:solidFill>
                <a:latin typeface="Calibri" pitchFamily="34" charset="0"/>
                <a:ea typeface="Calibri" pitchFamily="34" charset="-122"/>
                <a:cs typeface="Calibri" pitchFamily="34" charset="-120"/>
              </a:rPr>
              <a:t>LINKEDIN</a:t>
            </a:r>
            <a:endParaRPr lang="en-US" sz="1150" dirty="0"/>
          </a:p>
        </p:txBody>
      </p:sp>
      <p:sp>
        <p:nvSpPr>
          <p:cNvPr id="9" name="Text 7"/>
          <p:cNvSpPr/>
          <p:nvPr/>
        </p:nvSpPr>
        <p:spPr>
          <a:xfrm>
            <a:off x="2560320" y="3749040"/>
            <a:ext cx="640080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linkedin.com/in/purnachandraraochimata</a:t>
            </a:r>
            <a:endParaRPr lang="en-US" sz="1400" dirty="0"/>
          </a:p>
        </p:txBody>
      </p:sp>
      <p:sp>
        <p:nvSpPr>
          <p:cNvPr id="10" name="Text 8"/>
          <p:cNvSpPr/>
          <p:nvPr/>
        </p:nvSpPr>
        <p:spPr>
          <a:xfrm>
            <a:off x="640080" y="4251960"/>
            <a:ext cx="1828800" cy="365760"/>
          </a:xfrm>
          <a:prstGeom prst="rect">
            <a:avLst/>
          </a:prstGeom>
          <a:noFill/>
          <a:ln/>
        </p:spPr>
        <p:txBody>
          <a:bodyPr wrap="square" lIns="0" tIns="0" rIns="0" bIns="0" rtlCol="0" anchor="ctr"/>
          <a:lstStyle/>
          <a:p>
            <a:pPr indent="0" marL="0">
              <a:buNone/>
            </a:pPr>
            <a:r>
              <a:rPr lang="en-US" sz="1150" b="1" spc="100" kern="0" dirty="0">
                <a:solidFill>
                  <a:srgbClr val="B08D57"/>
                </a:solidFill>
                <a:latin typeface="Calibri" pitchFamily="34" charset="0"/>
                <a:ea typeface="Calibri" pitchFamily="34" charset="-122"/>
                <a:cs typeface="Calibri" pitchFamily="34" charset="-120"/>
              </a:rPr>
              <a:t>GITHUB</a:t>
            </a:r>
            <a:endParaRPr lang="en-US" sz="1150" dirty="0"/>
          </a:p>
        </p:txBody>
      </p:sp>
      <p:sp>
        <p:nvSpPr>
          <p:cNvPr id="11" name="Text 9"/>
          <p:cNvSpPr/>
          <p:nvPr/>
        </p:nvSpPr>
        <p:spPr>
          <a:xfrm>
            <a:off x="2560320" y="4251960"/>
            <a:ext cx="640080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github.com/Purnachandraraochimata</a:t>
            </a:r>
            <a:endParaRPr lang="en-US" sz="1400" dirty="0"/>
          </a:p>
        </p:txBody>
      </p:sp>
      <p:sp>
        <p:nvSpPr>
          <p:cNvPr id="12" name="Text 10"/>
          <p:cNvSpPr/>
          <p:nvPr/>
        </p:nvSpPr>
        <p:spPr>
          <a:xfrm>
            <a:off x="640080" y="4754880"/>
            <a:ext cx="1828800" cy="365760"/>
          </a:xfrm>
          <a:prstGeom prst="rect">
            <a:avLst/>
          </a:prstGeom>
          <a:noFill/>
          <a:ln/>
        </p:spPr>
        <p:txBody>
          <a:bodyPr wrap="square" lIns="0" tIns="0" rIns="0" bIns="0" rtlCol="0" anchor="ctr"/>
          <a:lstStyle/>
          <a:p>
            <a:pPr indent="0" marL="0">
              <a:buNone/>
            </a:pPr>
            <a:r>
              <a:rPr lang="en-US" sz="1150" b="1" spc="100" kern="0" dirty="0">
                <a:solidFill>
                  <a:srgbClr val="B08D57"/>
                </a:solidFill>
                <a:latin typeface="Calibri" pitchFamily="34" charset="0"/>
                <a:ea typeface="Calibri" pitchFamily="34" charset="-122"/>
                <a:cs typeface="Calibri" pitchFamily="34" charset="-120"/>
              </a:rPr>
              <a:t>LOCATION</a:t>
            </a:r>
            <a:endParaRPr lang="en-US" sz="1150" dirty="0"/>
          </a:p>
        </p:txBody>
      </p:sp>
      <p:sp>
        <p:nvSpPr>
          <p:cNvPr id="13" name="Text 11"/>
          <p:cNvSpPr/>
          <p:nvPr/>
        </p:nvSpPr>
        <p:spPr>
          <a:xfrm>
            <a:off x="2560320" y="4754880"/>
            <a:ext cx="640080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Chennai, India</a:t>
            </a:r>
            <a:endParaRPr lang="en-US" sz="1400" dirty="0"/>
          </a:p>
        </p:txBody>
      </p:sp>
      <p:sp>
        <p:nvSpPr>
          <p:cNvPr id="14" name="Shape 12"/>
          <p:cNvSpPr/>
          <p:nvPr/>
        </p:nvSpPr>
        <p:spPr>
          <a:xfrm>
            <a:off x="8366760" y="0"/>
            <a:ext cx="3794760" cy="6858000"/>
          </a:xfrm>
          <a:prstGeom prst="rect">
            <a:avLst/>
          </a:prstGeom>
          <a:solidFill>
            <a:srgbClr val="141A44"/>
          </a:solidFill>
          <a:ln/>
        </p:spPr>
      </p:sp>
      <p:sp>
        <p:nvSpPr>
          <p:cNvPr id="15" name="Shape 13"/>
          <p:cNvSpPr/>
          <p:nvPr/>
        </p:nvSpPr>
        <p:spPr>
          <a:xfrm>
            <a:off x="8915400" y="1737360"/>
            <a:ext cx="2743200" cy="3383280"/>
          </a:xfrm>
          <a:prstGeom prst="rect">
            <a:avLst/>
          </a:prstGeom>
          <a:solidFill>
            <a:srgbClr val="CADCFC"/>
          </a:solidFill>
          <a:ln w="19050">
            <a:solidFill>
              <a:srgbClr val="B08D57"/>
            </a:solidFill>
            <a:prstDash val="solid"/>
          </a:ln>
        </p:spPr>
      </p:sp>
      <p:pic>
        <p:nvPicPr>
          <p:cNvPr id="16" name="Image 0" descr="photo.jpg">    </p:cNvPr>
          <p:cNvPicPr>
            <a:picLocks noChangeAspect="1"/>
          </p:cNvPicPr>
          <p:nvPr/>
        </p:nvPicPr>
        <p:blipFill>
          <a:blip r:embed="rId1"/>
          <a:stretch>
            <a:fillRect/>
          </a:stretch>
        </p:blipFill>
        <p:spPr>
          <a:xfrm>
            <a:off x="9006840" y="1828800"/>
            <a:ext cx="2560320" cy="32004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2026-08-03T04:39:59Z</dcterms:created>
  <dcterms:modified xsi:type="dcterms:W3CDTF">2026-08-03T04:39:59Z</dcterms:modified>
</cp:coreProperties>
</file>